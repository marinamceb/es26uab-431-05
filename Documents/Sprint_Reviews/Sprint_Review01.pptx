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comments+xml" PartName="/ppt/comments/comment1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2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commentAuthors+xml" PartName="/ppt/commentAuthors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7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y="5143500" cx="9144000"/>
  <p:notesSz cx="6858000" cy="9144000"/>
  <p:embeddedFontLst>
    <p:embeddedFont>
      <p:font typeface="Hind"/>
      <p:regular r:id="rId18"/>
      <p:bold r:id="rId19"/>
    </p:embeddedFont>
    <p:embeddedFont>
      <p:font typeface="Space Grotesk Medium"/>
      <p:regular r:id="rId20"/>
      <p:bold r:id="rId21"/>
    </p:embeddedFont>
    <p:embeddedFont>
      <p:font typeface="Space Grotesk"/>
      <p:regular r:id="rId22"/>
      <p:bold r:id="rId2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Author clrIdx="0" id="0" initials="" lastIdx="1" name="Marina Martín"/>
</p:cmAuthorLst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SpaceGroteskMedium-regular.fntdata"/><Relationship Id="rId11" Type="http://schemas.openxmlformats.org/officeDocument/2006/relationships/slide" Target="slides/slide6.xml"/><Relationship Id="rId22" Type="http://schemas.openxmlformats.org/officeDocument/2006/relationships/font" Target="fonts/SpaceGrotesk-regular.fntdata"/><Relationship Id="rId10" Type="http://schemas.openxmlformats.org/officeDocument/2006/relationships/slide" Target="slides/slide5.xml"/><Relationship Id="rId21" Type="http://schemas.openxmlformats.org/officeDocument/2006/relationships/font" Target="fonts/SpaceGroteskMedium-bold.fnt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23" Type="http://schemas.openxmlformats.org/officeDocument/2006/relationships/font" Target="fonts/SpaceGrotesk-bold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commentAuthors" Target="comment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font" Target="fonts/Hind-bold.fntdata"/><Relationship Id="rId6" Type="http://schemas.openxmlformats.org/officeDocument/2006/relationships/slide" Target="slides/slide1.xml"/><Relationship Id="rId18" Type="http://schemas.openxmlformats.org/officeDocument/2006/relationships/font" Target="fonts/Hind-regular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comments/comment1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1" dt="2026-03-15T11:01:39.703">
    <p:pos x="6000" y="0"/>
    <p:text>Tasques: 
- Identificar requisits
- Identificar perfils d'usuari
- Escriure-ho al doc d'especificacions
- Escriure-ho al powepoint
- Fer els .md de cada requisit</p:text>
  </p:cm>
</p:cmLst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4dfce81f19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4dfce81f19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cf70ef3b9e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3cf70ef3b9e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cf70ef3b9e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cf70ef3b9e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d02b607959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3d02b607959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cf70ef3b9e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cf70ef3b9e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96060f51c5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96060f51c5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96060f51c5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96060f51c5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96060f51c5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396060f51c5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96060f51c5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96060f51c5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96060f51c5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96060f51c5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96060f51c5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396060f51c5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cf70ef3b9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cf70ef3b9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bit.ly/3A1uf1Q" TargetMode="External"/><Relationship Id="rId3" Type="http://schemas.openxmlformats.org/officeDocument/2006/relationships/hyperlink" Target="http://bit.ly/2TtBDfr" TargetMode="Externa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/>
          <p:nvPr>
            <p:ph type="ctrTitle"/>
          </p:nvPr>
        </p:nvSpPr>
        <p:spPr>
          <a:xfrm>
            <a:off x="228600" y="444150"/>
            <a:ext cx="7723200" cy="2430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77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/>
        </p:txBody>
      </p:sp>
      <p:sp>
        <p:nvSpPr>
          <p:cNvPr id="10" name="Google Shape;10;p2"/>
          <p:cNvSpPr txBox="1"/>
          <p:nvPr>
            <p:ph idx="1" type="subTitle"/>
          </p:nvPr>
        </p:nvSpPr>
        <p:spPr>
          <a:xfrm>
            <a:off x="2672050" y="3009750"/>
            <a:ext cx="6243300" cy="828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title"/>
          </p:nvPr>
        </p:nvSpPr>
        <p:spPr>
          <a:xfrm>
            <a:off x="228600" y="766500"/>
            <a:ext cx="6204300" cy="2930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3" name="Google Shape;13;p3"/>
          <p:cNvSpPr txBox="1"/>
          <p:nvPr>
            <p:ph hasCustomPrompt="1" idx="2" type="title"/>
          </p:nvPr>
        </p:nvSpPr>
        <p:spPr>
          <a:xfrm>
            <a:off x="7263300" y="803100"/>
            <a:ext cx="1652100" cy="11082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" name="Google Shape;14;p3"/>
          <p:cNvSpPr txBox="1"/>
          <p:nvPr>
            <p:ph idx="1" type="subTitle"/>
          </p:nvPr>
        </p:nvSpPr>
        <p:spPr>
          <a:xfrm>
            <a:off x="228600" y="3940200"/>
            <a:ext cx="6505200" cy="400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17" name="Google Shape;17;p4"/>
          <p:cNvSpPr txBox="1"/>
          <p:nvPr>
            <p:ph idx="1" type="body"/>
          </p:nvPr>
        </p:nvSpPr>
        <p:spPr>
          <a:xfrm>
            <a:off x="720000" y="1215752"/>
            <a:ext cx="77040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rtl="0"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1pPr>
            <a:lvl2pPr indent="-304800" lvl="1" marL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2pPr>
            <a:lvl3pPr indent="-304800" lvl="2" marL="13716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3pPr>
            <a:lvl4pPr indent="-304800" lvl="3" marL="1828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4pPr>
            <a:lvl5pPr indent="-304800" lvl="4" marL="22860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5pPr>
            <a:lvl6pPr indent="-304800" lvl="5" marL="2743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6pPr>
            <a:lvl7pPr indent="-304800" lvl="6" marL="3200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7pPr>
            <a:lvl8pPr indent="-304800" lvl="7" marL="36576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8pPr>
            <a:lvl9pPr indent="-304800" lvl="8" marL="411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/>
          <p:nvPr>
            <p:ph type="title"/>
          </p:nvPr>
        </p:nvSpPr>
        <p:spPr>
          <a:xfrm>
            <a:off x="228600" y="228600"/>
            <a:ext cx="86868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20" name="Google Shape;20;p5"/>
          <p:cNvSpPr txBox="1"/>
          <p:nvPr>
            <p:ph idx="1" type="subTitle"/>
          </p:nvPr>
        </p:nvSpPr>
        <p:spPr>
          <a:xfrm>
            <a:off x="4408725" y="3456300"/>
            <a:ext cx="4506600" cy="92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1200"/>
              <a:buNone/>
              <a:defRPr b="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21" name="Google Shape;21;p5"/>
          <p:cNvSpPr txBox="1"/>
          <p:nvPr>
            <p:ph idx="2" type="subTitle"/>
          </p:nvPr>
        </p:nvSpPr>
        <p:spPr>
          <a:xfrm>
            <a:off x="228622" y="1397700"/>
            <a:ext cx="8686800" cy="92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 b="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3" type="subTitle"/>
          </p:nvPr>
        </p:nvSpPr>
        <p:spPr>
          <a:xfrm>
            <a:off x="228600" y="1042800"/>
            <a:ext cx="8686800" cy="431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b="1" sz="16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23" name="Google Shape;23;p5"/>
          <p:cNvSpPr txBox="1"/>
          <p:nvPr>
            <p:ph idx="4" type="subTitle"/>
          </p:nvPr>
        </p:nvSpPr>
        <p:spPr>
          <a:xfrm>
            <a:off x="4408771" y="3101400"/>
            <a:ext cx="4506600" cy="431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b="1" sz="16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24" name="Google Shape;24;p5"/>
          <p:cNvSpPr/>
          <p:nvPr>
            <p:ph idx="5" type="pic"/>
          </p:nvPr>
        </p:nvSpPr>
        <p:spPr>
          <a:xfrm flipH="1">
            <a:off x="228599" y="2807700"/>
            <a:ext cx="3693600" cy="18657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228600" y="228600"/>
            <a:ext cx="86868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/>
          <p:nvPr>
            <p:ph type="title"/>
          </p:nvPr>
        </p:nvSpPr>
        <p:spPr>
          <a:xfrm>
            <a:off x="720000" y="445019"/>
            <a:ext cx="47637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29" name="Google Shape;29;p7"/>
          <p:cNvSpPr txBox="1"/>
          <p:nvPr>
            <p:ph idx="1" type="subTitle"/>
          </p:nvPr>
        </p:nvSpPr>
        <p:spPr>
          <a:xfrm>
            <a:off x="713225" y="1790975"/>
            <a:ext cx="4294800" cy="190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Font typeface="Open Sans Light"/>
              <a:buChar char="●"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600"/>
              <a:buFont typeface="Nunito Light"/>
              <a:buChar char="○"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■"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●"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●"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○"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8"/>
          <p:cNvSpPr txBox="1"/>
          <p:nvPr>
            <p:ph type="title"/>
          </p:nvPr>
        </p:nvSpPr>
        <p:spPr>
          <a:xfrm>
            <a:off x="1768550" y="1307100"/>
            <a:ext cx="5607000" cy="2529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9"/>
          <p:cNvSpPr txBox="1"/>
          <p:nvPr>
            <p:ph type="title"/>
          </p:nvPr>
        </p:nvSpPr>
        <p:spPr>
          <a:xfrm>
            <a:off x="2135550" y="1441675"/>
            <a:ext cx="4872900" cy="1187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6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34" name="Google Shape;34;p9"/>
          <p:cNvSpPr txBox="1"/>
          <p:nvPr>
            <p:ph idx="1" type="subTitle"/>
          </p:nvPr>
        </p:nvSpPr>
        <p:spPr>
          <a:xfrm>
            <a:off x="2135550" y="2784625"/>
            <a:ext cx="48729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0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7" name="Google Shape;37;p10"/>
          <p:cNvSpPr txBox="1"/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lt1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600"/>
              <a:buNone/>
              <a:defRPr sz="25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1"/>
          <p:cNvSpPr txBox="1"/>
          <p:nvPr>
            <p:ph hasCustomPrompt="1" type="title"/>
          </p:nvPr>
        </p:nvSpPr>
        <p:spPr>
          <a:xfrm>
            <a:off x="228600" y="1313400"/>
            <a:ext cx="6576000" cy="1323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600"/>
              <a:buNone/>
              <a:defRPr sz="7400"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40" name="Google Shape;40;p11"/>
          <p:cNvSpPr txBox="1"/>
          <p:nvPr>
            <p:ph idx="1" type="subTitle"/>
          </p:nvPr>
        </p:nvSpPr>
        <p:spPr>
          <a:xfrm>
            <a:off x="4803000" y="3399000"/>
            <a:ext cx="4112400" cy="43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noFill/>
      </p:bgPr>
    </p:bg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>
  <p:cSld name="BLANK_1_1_1_1_1_1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3"/>
          <p:cNvSpPr txBox="1"/>
          <p:nvPr>
            <p:ph type="title"/>
          </p:nvPr>
        </p:nvSpPr>
        <p:spPr>
          <a:xfrm>
            <a:off x="228600" y="228600"/>
            <a:ext cx="86868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44" name="Google Shape;44;p13"/>
          <p:cNvSpPr txBox="1"/>
          <p:nvPr>
            <p:ph hasCustomPrompt="1" idx="2" type="title"/>
          </p:nvPr>
        </p:nvSpPr>
        <p:spPr>
          <a:xfrm>
            <a:off x="228600" y="895940"/>
            <a:ext cx="734700" cy="5541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45" name="Google Shape;45;p13"/>
          <p:cNvSpPr txBox="1"/>
          <p:nvPr>
            <p:ph hasCustomPrompt="1" idx="3" type="title"/>
          </p:nvPr>
        </p:nvSpPr>
        <p:spPr>
          <a:xfrm>
            <a:off x="228600" y="2280565"/>
            <a:ext cx="734700" cy="5541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46" name="Google Shape;46;p13"/>
          <p:cNvSpPr txBox="1"/>
          <p:nvPr>
            <p:ph hasCustomPrompt="1" idx="4" type="title"/>
          </p:nvPr>
        </p:nvSpPr>
        <p:spPr>
          <a:xfrm>
            <a:off x="2751896" y="895940"/>
            <a:ext cx="734700" cy="5541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47" name="Google Shape;47;p13"/>
          <p:cNvSpPr txBox="1"/>
          <p:nvPr>
            <p:ph hasCustomPrompt="1" idx="5" type="title"/>
          </p:nvPr>
        </p:nvSpPr>
        <p:spPr>
          <a:xfrm>
            <a:off x="2751896" y="2280575"/>
            <a:ext cx="734700" cy="5541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48" name="Google Shape;48;p13"/>
          <p:cNvSpPr txBox="1"/>
          <p:nvPr>
            <p:ph hasCustomPrompt="1" idx="6" type="title"/>
          </p:nvPr>
        </p:nvSpPr>
        <p:spPr>
          <a:xfrm>
            <a:off x="228599" y="3665190"/>
            <a:ext cx="734700" cy="5541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49" name="Google Shape;49;p13"/>
          <p:cNvSpPr txBox="1"/>
          <p:nvPr>
            <p:ph hasCustomPrompt="1" idx="7" type="title"/>
          </p:nvPr>
        </p:nvSpPr>
        <p:spPr>
          <a:xfrm>
            <a:off x="2751899" y="3665211"/>
            <a:ext cx="734700" cy="5541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0" name="Google Shape;50;p13"/>
          <p:cNvSpPr txBox="1"/>
          <p:nvPr>
            <p:ph idx="1" type="subTitle"/>
          </p:nvPr>
        </p:nvSpPr>
        <p:spPr>
          <a:xfrm>
            <a:off x="228600" y="1373838"/>
            <a:ext cx="2142300" cy="6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b="1" sz="16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51" name="Google Shape;51;p13"/>
          <p:cNvSpPr txBox="1"/>
          <p:nvPr>
            <p:ph idx="8" type="subTitle"/>
          </p:nvPr>
        </p:nvSpPr>
        <p:spPr>
          <a:xfrm>
            <a:off x="2751900" y="1373838"/>
            <a:ext cx="2142300" cy="6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b="1" sz="16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9" type="subTitle"/>
          </p:nvPr>
        </p:nvSpPr>
        <p:spPr>
          <a:xfrm>
            <a:off x="228600" y="4143100"/>
            <a:ext cx="2142300" cy="6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b="1" sz="16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3" type="subTitle"/>
          </p:nvPr>
        </p:nvSpPr>
        <p:spPr>
          <a:xfrm>
            <a:off x="228600" y="2781540"/>
            <a:ext cx="2142300" cy="6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b="1" sz="16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4" type="subTitle"/>
          </p:nvPr>
        </p:nvSpPr>
        <p:spPr>
          <a:xfrm>
            <a:off x="2751900" y="2781540"/>
            <a:ext cx="2142300" cy="6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b="1" sz="16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5" type="subTitle"/>
          </p:nvPr>
        </p:nvSpPr>
        <p:spPr>
          <a:xfrm>
            <a:off x="2751900" y="4143202"/>
            <a:ext cx="2142300" cy="67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b="1" sz="16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56" name="Google Shape;56;p13"/>
          <p:cNvSpPr/>
          <p:nvPr>
            <p:ph idx="16" type="pic"/>
          </p:nvPr>
        </p:nvSpPr>
        <p:spPr>
          <a:xfrm>
            <a:off x="5655325" y="895950"/>
            <a:ext cx="3260100" cy="40188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">
  <p:cSld name="CUSTOM_4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4"/>
          <p:cNvSpPr txBox="1"/>
          <p:nvPr>
            <p:ph type="title"/>
          </p:nvPr>
        </p:nvSpPr>
        <p:spPr>
          <a:xfrm>
            <a:off x="228600" y="888300"/>
            <a:ext cx="7496100" cy="1507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59" name="Google Shape;59;p14"/>
          <p:cNvSpPr txBox="1"/>
          <p:nvPr>
            <p:ph idx="1" type="subTitle"/>
          </p:nvPr>
        </p:nvSpPr>
        <p:spPr>
          <a:xfrm>
            <a:off x="2528775" y="2624550"/>
            <a:ext cx="6387300" cy="163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1">
  <p:cSld name="ONE_COLUMN_TEXT_1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/>
          <p:nvPr>
            <p:ph type="title"/>
          </p:nvPr>
        </p:nvSpPr>
        <p:spPr>
          <a:xfrm>
            <a:off x="228600" y="228600"/>
            <a:ext cx="4263000" cy="98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62" name="Google Shape;62;p15"/>
          <p:cNvSpPr txBox="1"/>
          <p:nvPr>
            <p:ph idx="1" type="subTitle"/>
          </p:nvPr>
        </p:nvSpPr>
        <p:spPr>
          <a:xfrm>
            <a:off x="228600" y="2215200"/>
            <a:ext cx="4356000" cy="269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Font typeface="Open Sans Light"/>
              <a:buChar char="●"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600"/>
              <a:buFont typeface="Nunito Light"/>
              <a:buChar char="○"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■"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●"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●"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○"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/>
        </p:txBody>
      </p:sp>
      <p:sp>
        <p:nvSpPr>
          <p:cNvPr id="63" name="Google Shape;63;p15"/>
          <p:cNvSpPr/>
          <p:nvPr>
            <p:ph idx="2" type="pic"/>
          </p:nvPr>
        </p:nvSpPr>
        <p:spPr>
          <a:xfrm>
            <a:off x="4778100" y="228600"/>
            <a:ext cx="4137300" cy="4686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">
  <p:cSld name="CUSTOM_6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6"/>
          <p:cNvSpPr txBox="1"/>
          <p:nvPr>
            <p:ph type="title"/>
          </p:nvPr>
        </p:nvSpPr>
        <p:spPr>
          <a:xfrm>
            <a:off x="228600" y="228600"/>
            <a:ext cx="86868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66" name="Google Shape;66;p16"/>
          <p:cNvSpPr txBox="1"/>
          <p:nvPr>
            <p:ph idx="1" type="subTitle"/>
          </p:nvPr>
        </p:nvSpPr>
        <p:spPr>
          <a:xfrm>
            <a:off x="4778050" y="1334504"/>
            <a:ext cx="4137300" cy="73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67" name="Google Shape;67;p16"/>
          <p:cNvSpPr txBox="1"/>
          <p:nvPr>
            <p:ph idx="2" type="subTitle"/>
          </p:nvPr>
        </p:nvSpPr>
        <p:spPr>
          <a:xfrm>
            <a:off x="4778050" y="2666116"/>
            <a:ext cx="4136700" cy="73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68" name="Google Shape;68;p16"/>
          <p:cNvSpPr txBox="1"/>
          <p:nvPr>
            <p:ph idx="3" type="subTitle"/>
          </p:nvPr>
        </p:nvSpPr>
        <p:spPr>
          <a:xfrm>
            <a:off x="4778050" y="3997725"/>
            <a:ext cx="4136700" cy="73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69" name="Google Shape;69;p16"/>
          <p:cNvSpPr txBox="1"/>
          <p:nvPr>
            <p:ph idx="4" type="subTitle"/>
          </p:nvPr>
        </p:nvSpPr>
        <p:spPr>
          <a:xfrm>
            <a:off x="4778050" y="979600"/>
            <a:ext cx="4137300" cy="43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b="1" sz="16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70" name="Google Shape;70;p16"/>
          <p:cNvSpPr txBox="1"/>
          <p:nvPr>
            <p:ph idx="5" type="subTitle"/>
          </p:nvPr>
        </p:nvSpPr>
        <p:spPr>
          <a:xfrm>
            <a:off x="4778050" y="2311209"/>
            <a:ext cx="4136700" cy="43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b="1" sz="16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71" name="Google Shape;71;p16"/>
          <p:cNvSpPr txBox="1"/>
          <p:nvPr>
            <p:ph idx="6" type="subTitle"/>
          </p:nvPr>
        </p:nvSpPr>
        <p:spPr>
          <a:xfrm>
            <a:off x="4778050" y="3642819"/>
            <a:ext cx="4136700" cy="43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b="1" sz="16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pace Grotesk"/>
              <a:buNone/>
              <a:defRPr sz="24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72" name="Google Shape;72;p16"/>
          <p:cNvSpPr/>
          <p:nvPr>
            <p:ph idx="7" type="pic"/>
          </p:nvPr>
        </p:nvSpPr>
        <p:spPr>
          <a:xfrm>
            <a:off x="228600" y="891600"/>
            <a:ext cx="3602700" cy="4023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">
  <p:cSld name="CUSTOM_5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7"/>
          <p:cNvSpPr txBox="1"/>
          <p:nvPr>
            <p:ph type="title"/>
          </p:nvPr>
        </p:nvSpPr>
        <p:spPr>
          <a:xfrm>
            <a:off x="228600" y="228600"/>
            <a:ext cx="8686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75" name="Google Shape;75;p17"/>
          <p:cNvSpPr txBox="1"/>
          <p:nvPr>
            <p:ph idx="1" type="subTitle"/>
          </p:nvPr>
        </p:nvSpPr>
        <p:spPr>
          <a:xfrm>
            <a:off x="513256" y="1874225"/>
            <a:ext cx="3903300" cy="73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76" name="Google Shape;76;p17"/>
          <p:cNvSpPr txBox="1"/>
          <p:nvPr>
            <p:ph idx="2" type="subTitle"/>
          </p:nvPr>
        </p:nvSpPr>
        <p:spPr>
          <a:xfrm>
            <a:off x="4727444" y="1874225"/>
            <a:ext cx="3903300" cy="73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idx="3" type="subTitle"/>
          </p:nvPr>
        </p:nvSpPr>
        <p:spPr>
          <a:xfrm>
            <a:off x="513256" y="3412600"/>
            <a:ext cx="3903300" cy="73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78" name="Google Shape;78;p17"/>
          <p:cNvSpPr txBox="1"/>
          <p:nvPr>
            <p:ph idx="4" type="subTitle"/>
          </p:nvPr>
        </p:nvSpPr>
        <p:spPr>
          <a:xfrm>
            <a:off x="4727444" y="3412600"/>
            <a:ext cx="3903300" cy="73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5" type="subTitle"/>
          </p:nvPr>
        </p:nvSpPr>
        <p:spPr>
          <a:xfrm>
            <a:off x="513257" y="1519325"/>
            <a:ext cx="3903300" cy="431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16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80" name="Google Shape;80;p17"/>
          <p:cNvSpPr txBox="1"/>
          <p:nvPr>
            <p:ph idx="6" type="subTitle"/>
          </p:nvPr>
        </p:nvSpPr>
        <p:spPr>
          <a:xfrm>
            <a:off x="513257" y="3057700"/>
            <a:ext cx="3903300" cy="431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16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81" name="Google Shape;81;p17"/>
          <p:cNvSpPr txBox="1"/>
          <p:nvPr>
            <p:ph idx="7" type="subTitle"/>
          </p:nvPr>
        </p:nvSpPr>
        <p:spPr>
          <a:xfrm>
            <a:off x="4727408" y="1519325"/>
            <a:ext cx="3903300" cy="431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16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82" name="Google Shape;82;p17"/>
          <p:cNvSpPr txBox="1"/>
          <p:nvPr>
            <p:ph idx="8" type="subTitle"/>
          </p:nvPr>
        </p:nvSpPr>
        <p:spPr>
          <a:xfrm>
            <a:off x="4727408" y="3057700"/>
            <a:ext cx="3903300" cy="431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16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Space Grotesk"/>
              <a:buNone/>
              <a:defRPr b="1" sz="2000"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s">
  <p:cSld name="CUSTOM_3_1"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8"/>
          <p:cNvSpPr txBox="1"/>
          <p:nvPr>
            <p:ph type="title"/>
          </p:nvPr>
        </p:nvSpPr>
        <p:spPr>
          <a:xfrm>
            <a:off x="228603" y="669425"/>
            <a:ext cx="5617500" cy="129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sz="72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1" type="subTitle"/>
          </p:nvPr>
        </p:nvSpPr>
        <p:spPr>
          <a:xfrm>
            <a:off x="228601" y="1962425"/>
            <a:ext cx="2605800" cy="1046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86" name="Google Shape;86;p18"/>
          <p:cNvSpPr txBox="1"/>
          <p:nvPr/>
        </p:nvSpPr>
        <p:spPr>
          <a:xfrm>
            <a:off x="6732300" y="3519775"/>
            <a:ext cx="21831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30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rPr>
              <a:t>CREDITS:</a:t>
            </a:r>
            <a:r>
              <a:rPr lang="en" sz="10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rPr>
              <a:t> This presentation template was created by </a:t>
            </a:r>
            <a:r>
              <a:rPr b="1" lang="en" sz="1000" u="sng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Slidesgo</a:t>
            </a:r>
            <a:r>
              <a:rPr lang="en" sz="10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rPr>
              <a:t>, and includes icons, infographics &amp; images by </a:t>
            </a:r>
            <a:r>
              <a:rPr b="1" lang="en" sz="1000" u="sng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Freepik</a:t>
            </a:r>
            <a:r>
              <a:rPr lang="en" sz="1000" u="sng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rPr>
              <a:t> </a:t>
            </a:r>
            <a:endParaRPr b="1" sz="1000" u="sng">
              <a:solidFill>
                <a:schemeClr val="dk1"/>
              </a:solidFill>
              <a:latin typeface="Hind"/>
              <a:ea typeface="Hind"/>
              <a:cs typeface="Hind"/>
              <a:sym typeface="Hind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">
  <p:cSld name="CUSTOM_9"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1">
  <p:cSld name="CUSTOM_9_1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Space Grotesk"/>
              <a:buNone/>
              <a:defRPr b="1" sz="26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Space Grotesk"/>
              <a:buNone/>
              <a:defRPr b="1" sz="35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Space Grotesk"/>
              <a:buNone/>
              <a:defRPr b="1" sz="35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Space Grotesk"/>
              <a:buNone/>
              <a:defRPr b="1" sz="35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Space Grotesk"/>
              <a:buNone/>
              <a:defRPr b="1" sz="35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Space Grotesk"/>
              <a:buNone/>
              <a:defRPr b="1" sz="35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Space Grotesk"/>
              <a:buNone/>
              <a:defRPr b="1" sz="35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Space Grotesk"/>
              <a:buNone/>
              <a:defRPr b="1" sz="35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Space Grotesk"/>
              <a:buNone/>
              <a:defRPr b="1" sz="350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●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1pPr>
            <a:lvl2pPr indent="-3048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○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indent="-3048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■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indent="-3048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●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indent="-3048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○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indent="-3048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■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indent="-3048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●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indent="-3048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○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indent="-3048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■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jpg"/><Relationship Id="rId4" Type="http://schemas.openxmlformats.org/officeDocument/2006/relationships/image" Target="../media/image1.jpg"/><Relationship Id="rId5" Type="http://schemas.openxmlformats.org/officeDocument/2006/relationships/image" Target="../media/image2.jpg"/><Relationship Id="rId6" Type="http://schemas.openxmlformats.org/officeDocument/2006/relationships/image" Target="../media/image6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comments" Target="../comments/comment1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8.jpg"/><Relationship Id="rId5" Type="http://schemas.openxmlformats.org/officeDocument/2006/relationships/image" Target="../media/image4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Relationship Id="rId4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1"/>
          <p:cNvSpPr txBox="1"/>
          <p:nvPr>
            <p:ph type="ctrTitle"/>
          </p:nvPr>
        </p:nvSpPr>
        <p:spPr>
          <a:xfrm>
            <a:off x="710400" y="801000"/>
            <a:ext cx="7723200" cy="2430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Enginyeria del Software</a:t>
            </a:r>
            <a:endParaRPr/>
          </a:p>
        </p:txBody>
      </p:sp>
      <p:sp>
        <p:nvSpPr>
          <p:cNvPr id="94" name="Google Shape;94;p21"/>
          <p:cNvSpPr txBox="1"/>
          <p:nvPr>
            <p:ph idx="1" type="subTitle"/>
          </p:nvPr>
        </p:nvSpPr>
        <p:spPr>
          <a:xfrm>
            <a:off x="2672050" y="3009750"/>
            <a:ext cx="6243300" cy="828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Pràctiques: Grup 431-05</a:t>
            </a:r>
            <a:endParaRPr/>
          </a:p>
        </p:txBody>
      </p:sp>
      <p:sp>
        <p:nvSpPr>
          <p:cNvPr id="95" name="Google Shape;95;p21"/>
          <p:cNvSpPr txBox="1"/>
          <p:nvPr/>
        </p:nvSpPr>
        <p:spPr>
          <a:xfrm rot="-5400000">
            <a:off x="-300150" y="3975850"/>
            <a:ext cx="8289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rPr>
              <a:t>Curs 2025-2026</a:t>
            </a:r>
            <a:endParaRPr sz="800">
              <a:solidFill>
                <a:schemeClr val="dk1"/>
              </a:solidFill>
              <a:latin typeface="Space Grotesk Medium"/>
              <a:ea typeface="Space Grotesk Medium"/>
              <a:cs typeface="Space Grotesk Medium"/>
              <a:sym typeface="Space Grotesk Medium"/>
            </a:endParaRPr>
          </a:p>
        </p:txBody>
      </p:sp>
      <p:cxnSp>
        <p:nvCxnSpPr>
          <p:cNvPr id="96" name="Google Shape;96;p21"/>
          <p:cNvCxnSpPr>
            <a:stCxn id="95" idx="1"/>
          </p:cNvCxnSpPr>
          <p:nvPr/>
        </p:nvCxnSpPr>
        <p:spPr>
          <a:xfrm>
            <a:off x="114300" y="4451800"/>
            <a:ext cx="0" cy="7491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7" name="Google Shape;97;p21"/>
          <p:cNvCxnSpPr/>
          <p:nvPr/>
        </p:nvCxnSpPr>
        <p:spPr>
          <a:xfrm>
            <a:off x="5219400" y="3838650"/>
            <a:ext cx="3696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8" name="Google Shape;98;p21"/>
          <p:cNvSpPr txBox="1"/>
          <p:nvPr>
            <p:ph idx="1" type="subTitle"/>
          </p:nvPr>
        </p:nvSpPr>
        <p:spPr>
          <a:xfrm>
            <a:off x="2733000" y="3424200"/>
            <a:ext cx="6243300" cy="828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Sprint 01: Requisits Funcionals i No Funcionals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2"/>
          <p:cNvSpPr txBox="1"/>
          <p:nvPr>
            <p:ph type="title"/>
          </p:nvPr>
        </p:nvSpPr>
        <p:spPr>
          <a:xfrm>
            <a:off x="228600" y="1362172"/>
            <a:ext cx="86868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Composició de l’equip</a:t>
            </a:r>
            <a:endParaRPr/>
          </a:p>
        </p:txBody>
      </p:sp>
      <p:sp>
        <p:nvSpPr>
          <p:cNvPr id="104" name="Google Shape;104;p22"/>
          <p:cNvSpPr txBox="1"/>
          <p:nvPr>
            <p:ph idx="4294967295" type="subTitle"/>
          </p:nvPr>
        </p:nvSpPr>
        <p:spPr>
          <a:xfrm>
            <a:off x="1354521" y="3376312"/>
            <a:ext cx="1482300" cy="40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</a:t>
            </a:r>
            <a:r>
              <a:rPr lang="en"/>
              <a:t>rina Martín 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(Scrum Master)</a:t>
            </a:r>
            <a:endParaRPr/>
          </a:p>
        </p:txBody>
      </p:sp>
      <p:sp>
        <p:nvSpPr>
          <p:cNvPr id="105" name="Google Shape;105;p22"/>
          <p:cNvSpPr txBox="1"/>
          <p:nvPr>
            <p:ph idx="4294967295" type="subTitle"/>
          </p:nvPr>
        </p:nvSpPr>
        <p:spPr>
          <a:xfrm>
            <a:off x="3053694" y="3376312"/>
            <a:ext cx="1482300" cy="40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Ariadna Cano</a:t>
            </a:r>
            <a:endParaRPr/>
          </a:p>
        </p:txBody>
      </p:sp>
      <p:sp>
        <p:nvSpPr>
          <p:cNvPr id="106" name="Google Shape;106;p22"/>
          <p:cNvSpPr txBox="1"/>
          <p:nvPr>
            <p:ph idx="4294967295" type="subTitle"/>
          </p:nvPr>
        </p:nvSpPr>
        <p:spPr>
          <a:xfrm>
            <a:off x="4680462" y="3376316"/>
            <a:ext cx="1482300" cy="40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Lucas Luna</a:t>
            </a:r>
            <a:endParaRPr/>
          </a:p>
        </p:txBody>
      </p:sp>
      <p:sp>
        <p:nvSpPr>
          <p:cNvPr id="107" name="Google Shape;107;p22"/>
          <p:cNvSpPr txBox="1"/>
          <p:nvPr>
            <p:ph idx="4294967295" type="subTitle"/>
          </p:nvPr>
        </p:nvSpPr>
        <p:spPr>
          <a:xfrm>
            <a:off x="6307194" y="3376323"/>
            <a:ext cx="1482300" cy="40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Daria Radoi</a:t>
            </a:r>
            <a:endParaRPr/>
          </a:p>
        </p:txBody>
      </p:sp>
      <p:pic>
        <p:nvPicPr>
          <p:cNvPr id="108" name="Google Shape;108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60787" y="2257725"/>
            <a:ext cx="1068128" cy="1068148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887524" y="2257723"/>
            <a:ext cx="1068149" cy="10681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2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514275" y="2275876"/>
            <a:ext cx="1068150" cy="1031829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22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579763" y="2275875"/>
            <a:ext cx="1031826" cy="10318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3"/>
          <p:cNvSpPr txBox="1"/>
          <p:nvPr>
            <p:ph type="title"/>
          </p:nvPr>
        </p:nvSpPr>
        <p:spPr>
          <a:xfrm>
            <a:off x="228600" y="228600"/>
            <a:ext cx="8686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Tasques fetes al sprint</a:t>
            </a:r>
            <a:endParaRPr/>
          </a:p>
        </p:txBody>
      </p:sp>
      <p:sp>
        <p:nvSpPr>
          <p:cNvPr id="117" name="Google Shape;117;p23"/>
          <p:cNvSpPr txBox="1"/>
          <p:nvPr>
            <p:ph idx="1" type="subTitle"/>
          </p:nvPr>
        </p:nvSpPr>
        <p:spPr>
          <a:xfrm>
            <a:off x="513256" y="1874225"/>
            <a:ext cx="3903300" cy="73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(i escriure’ls al Document d’Especificacions)</a:t>
            </a:r>
            <a:endParaRPr/>
          </a:p>
        </p:txBody>
      </p:sp>
      <p:sp>
        <p:nvSpPr>
          <p:cNvPr id="118" name="Google Shape;118;p23"/>
          <p:cNvSpPr txBox="1"/>
          <p:nvPr>
            <p:ph idx="2" type="subTitle"/>
          </p:nvPr>
        </p:nvSpPr>
        <p:spPr>
          <a:xfrm>
            <a:off x="4727444" y="1874225"/>
            <a:ext cx="3903300" cy="73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(i escriure’ls al Document d’Especificacions)</a:t>
            </a:r>
            <a:endParaRPr/>
          </a:p>
        </p:txBody>
      </p:sp>
      <p:sp>
        <p:nvSpPr>
          <p:cNvPr id="119" name="Google Shape;119;p23"/>
          <p:cNvSpPr txBox="1"/>
          <p:nvPr>
            <p:ph idx="5" type="subTitle"/>
          </p:nvPr>
        </p:nvSpPr>
        <p:spPr>
          <a:xfrm>
            <a:off x="513257" y="1519325"/>
            <a:ext cx="3903300" cy="431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Identificar Requisits</a:t>
            </a:r>
            <a:endParaRPr/>
          </a:p>
        </p:txBody>
      </p:sp>
      <p:sp>
        <p:nvSpPr>
          <p:cNvPr id="120" name="Google Shape;120;p23"/>
          <p:cNvSpPr txBox="1"/>
          <p:nvPr>
            <p:ph idx="6" type="subTitle"/>
          </p:nvPr>
        </p:nvSpPr>
        <p:spPr>
          <a:xfrm>
            <a:off x="513257" y="3057700"/>
            <a:ext cx="3903300" cy="431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Passar-ho tot al Power Point</a:t>
            </a:r>
            <a:endParaRPr/>
          </a:p>
        </p:txBody>
      </p:sp>
      <p:sp>
        <p:nvSpPr>
          <p:cNvPr id="121" name="Google Shape;121;p23"/>
          <p:cNvSpPr txBox="1"/>
          <p:nvPr>
            <p:ph idx="7" type="subTitle"/>
          </p:nvPr>
        </p:nvSpPr>
        <p:spPr>
          <a:xfrm>
            <a:off x="4727408" y="1519325"/>
            <a:ext cx="3903300" cy="431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Identificar perfils d’usuari</a:t>
            </a:r>
            <a:endParaRPr/>
          </a:p>
        </p:txBody>
      </p:sp>
      <p:sp>
        <p:nvSpPr>
          <p:cNvPr id="122" name="Google Shape;122;p23"/>
          <p:cNvSpPr txBox="1"/>
          <p:nvPr>
            <p:ph idx="8" type="subTitle"/>
          </p:nvPr>
        </p:nvSpPr>
        <p:spPr>
          <a:xfrm>
            <a:off x="4727400" y="3057700"/>
            <a:ext cx="3903300" cy="659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Fer el fitxer Markdown de cada requeriment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4"/>
          <p:cNvSpPr/>
          <p:nvPr/>
        </p:nvSpPr>
        <p:spPr>
          <a:xfrm>
            <a:off x="1561338" y="983825"/>
            <a:ext cx="2943300" cy="2013600"/>
          </a:xfrm>
          <a:prstGeom prst="rect">
            <a:avLst/>
          </a:prstGeom>
          <a:solidFill>
            <a:srgbClr val="43434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128" name="Google Shape;128;p24"/>
          <p:cNvSpPr txBox="1"/>
          <p:nvPr>
            <p:ph type="title"/>
          </p:nvPr>
        </p:nvSpPr>
        <p:spPr>
          <a:xfrm>
            <a:off x="228600" y="228600"/>
            <a:ext cx="8686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Perfils d’usuari a l’aplicació QUEMENGES</a:t>
            </a:r>
            <a:endParaRPr/>
          </a:p>
        </p:txBody>
      </p:sp>
      <p:sp>
        <p:nvSpPr>
          <p:cNvPr id="129" name="Google Shape;129;p24"/>
          <p:cNvSpPr txBox="1"/>
          <p:nvPr>
            <p:ph idx="6" type="subTitle"/>
          </p:nvPr>
        </p:nvSpPr>
        <p:spPr>
          <a:xfrm>
            <a:off x="3040588" y="1067825"/>
            <a:ext cx="1261800" cy="458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Repartidor</a:t>
            </a:r>
            <a:endParaRPr/>
          </a:p>
        </p:txBody>
      </p:sp>
      <p:sp>
        <p:nvSpPr>
          <p:cNvPr id="130" name="Google Shape;130;p24"/>
          <p:cNvSpPr txBox="1"/>
          <p:nvPr>
            <p:ph idx="1" type="subTitle"/>
          </p:nvPr>
        </p:nvSpPr>
        <p:spPr>
          <a:xfrm>
            <a:off x="3040588" y="1441963"/>
            <a:ext cx="1404600" cy="155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 el cuiner el té contractat, envia </a:t>
            </a:r>
            <a:r>
              <a:rPr lang="en"/>
              <a:t>comandes</a:t>
            </a:r>
            <a:r>
              <a:rPr lang="en"/>
              <a:t> des del comicili del Cuiner fins al punt de recollida. Rep pagaments. </a:t>
            </a:r>
            <a:endParaRPr/>
          </a:p>
        </p:txBody>
      </p:sp>
      <p:sp>
        <p:nvSpPr>
          <p:cNvPr id="131" name="Google Shape;131;p24"/>
          <p:cNvSpPr/>
          <p:nvPr/>
        </p:nvSpPr>
        <p:spPr>
          <a:xfrm>
            <a:off x="3133800" y="3115450"/>
            <a:ext cx="2876100" cy="1840500"/>
          </a:xfrm>
          <a:prstGeom prst="rect">
            <a:avLst/>
          </a:prstGeom>
          <a:solidFill>
            <a:srgbClr val="43434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132" name="Google Shape;132;p24"/>
          <p:cNvSpPr/>
          <p:nvPr/>
        </p:nvSpPr>
        <p:spPr>
          <a:xfrm>
            <a:off x="4639063" y="983813"/>
            <a:ext cx="2943300" cy="2013600"/>
          </a:xfrm>
          <a:prstGeom prst="rect">
            <a:avLst/>
          </a:prstGeom>
          <a:solidFill>
            <a:srgbClr val="43434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133" name="Google Shape;133;p24"/>
          <p:cNvSpPr txBox="1"/>
          <p:nvPr>
            <p:ph idx="2" type="subTitle"/>
          </p:nvPr>
        </p:nvSpPr>
        <p:spPr>
          <a:xfrm>
            <a:off x="6320438" y="1436213"/>
            <a:ext cx="1261800" cy="146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Fa menjars per a que els clients puguin fer comandes. Rep pagaments i valoracions. </a:t>
            </a:r>
            <a:endParaRPr/>
          </a:p>
        </p:txBody>
      </p:sp>
      <p:sp>
        <p:nvSpPr>
          <p:cNvPr id="134" name="Google Shape;134;p24"/>
          <p:cNvSpPr txBox="1"/>
          <p:nvPr>
            <p:ph idx="7" type="subTitle"/>
          </p:nvPr>
        </p:nvSpPr>
        <p:spPr>
          <a:xfrm>
            <a:off x="6320437" y="1081313"/>
            <a:ext cx="1261800" cy="431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Cuiner</a:t>
            </a:r>
            <a:endParaRPr/>
          </a:p>
        </p:txBody>
      </p:sp>
      <p:sp>
        <p:nvSpPr>
          <p:cNvPr id="135" name="Google Shape;135;p24"/>
          <p:cNvSpPr txBox="1"/>
          <p:nvPr>
            <p:ph idx="1" type="subTitle"/>
          </p:nvPr>
        </p:nvSpPr>
        <p:spPr>
          <a:xfrm>
            <a:off x="4605116" y="3739768"/>
            <a:ext cx="1404600" cy="101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Demana, paga i valora comandes.  </a:t>
            </a:r>
            <a:endParaRPr/>
          </a:p>
        </p:txBody>
      </p:sp>
      <p:sp>
        <p:nvSpPr>
          <p:cNvPr id="136" name="Google Shape;136;p24"/>
          <p:cNvSpPr txBox="1"/>
          <p:nvPr>
            <p:ph idx="5" type="subTitle"/>
          </p:nvPr>
        </p:nvSpPr>
        <p:spPr>
          <a:xfrm>
            <a:off x="4605123" y="3320484"/>
            <a:ext cx="1404600" cy="509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Client</a:t>
            </a:r>
            <a:endParaRPr/>
          </a:p>
        </p:txBody>
      </p:sp>
      <p:pic>
        <p:nvPicPr>
          <p:cNvPr id="137" name="Google Shape;137;p24" title="Recetas de pasta de Karlos Arguiñano _ Web oficial Antena 3.jpg"/>
          <p:cNvPicPr preferRelativeResize="0"/>
          <p:nvPr/>
        </p:nvPicPr>
        <p:blipFill rotWithShape="1">
          <a:blip r:embed="rId3">
            <a:alphaModFix/>
          </a:blip>
          <a:srcRect b="0" l="19533" r="19539" t="0"/>
          <a:stretch/>
        </p:blipFill>
        <p:spPr>
          <a:xfrm>
            <a:off x="4739113" y="1070350"/>
            <a:ext cx="1495200" cy="1840525"/>
          </a:xfrm>
          <a:prstGeom prst="rect">
            <a:avLst/>
          </a:prstGeom>
          <a:solidFill>
            <a:srgbClr val="434343"/>
          </a:solidFill>
          <a:ln>
            <a:noFill/>
          </a:ln>
        </p:spPr>
      </p:pic>
      <p:pic>
        <p:nvPicPr>
          <p:cNvPr id="138" name="Google Shape;138;p24" title="meme drôle.jpg"/>
          <p:cNvPicPr preferRelativeResize="0"/>
          <p:nvPr/>
        </p:nvPicPr>
        <p:blipFill rotWithShape="1">
          <a:blip r:embed="rId4">
            <a:alphaModFix/>
          </a:blip>
          <a:srcRect b="0" l="5000" r="-5000" t="6533"/>
          <a:stretch/>
        </p:blipFill>
        <p:spPr>
          <a:xfrm>
            <a:off x="3276426" y="3224051"/>
            <a:ext cx="1174426" cy="1623323"/>
          </a:xfrm>
          <a:prstGeom prst="rect">
            <a:avLst/>
          </a:prstGeom>
          <a:solidFill>
            <a:srgbClr val="434343"/>
          </a:solidFill>
          <a:ln>
            <a:noFill/>
          </a:ln>
        </p:spPr>
      </p:pic>
      <p:pic>
        <p:nvPicPr>
          <p:cNvPr id="139" name="Google Shape;139;p24" title="Pizza Delivery Man stock image_ Image of smiling, italian - 7741877.jpg"/>
          <p:cNvPicPr preferRelativeResize="0"/>
          <p:nvPr/>
        </p:nvPicPr>
        <p:blipFill rotWithShape="1">
          <a:blip r:embed="rId5">
            <a:alphaModFix/>
          </a:blip>
          <a:srcRect b="0" l="0" r="6925" t="6103"/>
          <a:stretch/>
        </p:blipFill>
        <p:spPr>
          <a:xfrm>
            <a:off x="1659537" y="1073454"/>
            <a:ext cx="1261800" cy="18184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5"/>
          <p:cNvSpPr txBox="1"/>
          <p:nvPr>
            <p:ph type="title"/>
          </p:nvPr>
        </p:nvSpPr>
        <p:spPr>
          <a:xfrm>
            <a:off x="228600" y="228600"/>
            <a:ext cx="86868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Requisits</a:t>
            </a:r>
            <a:endParaRPr/>
          </a:p>
        </p:txBody>
      </p:sp>
      <p:sp>
        <p:nvSpPr>
          <p:cNvPr id="145" name="Google Shape;145;p25"/>
          <p:cNvSpPr txBox="1"/>
          <p:nvPr/>
        </p:nvSpPr>
        <p:spPr>
          <a:xfrm>
            <a:off x="214796" y="801300"/>
            <a:ext cx="8686800" cy="38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GRUP 1: GESTIÓ DE COMPTES I CREACIÓ DE PERFILS D'USUARI</a:t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RF 1: </a:t>
            </a:r>
            <a:r>
              <a:rPr lang="en">
                <a:solidFill>
                  <a:schemeClr val="dk1"/>
                </a:solidFill>
              </a:rPr>
              <a:t>Els usuaris podran registrar-se amb correu.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RF 2: </a:t>
            </a:r>
            <a:r>
              <a:rPr lang="en">
                <a:solidFill>
                  <a:schemeClr val="dk1"/>
                </a:solidFill>
              </a:rPr>
              <a:t>Només els usuaris registrats podran realitzar comandes.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RNF 3: </a:t>
            </a:r>
            <a:r>
              <a:rPr lang="en">
                <a:solidFill>
                  <a:schemeClr val="dk1"/>
                </a:solidFill>
              </a:rPr>
              <a:t>Els clients podran registrar-se amb Gmail o amb Outlook (RNF de Decisió de disseny).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RF 4: </a:t>
            </a:r>
            <a:r>
              <a:rPr lang="en">
                <a:solidFill>
                  <a:schemeClr val="dk1"/>
                </a:solidFill>
              </a:rPr>
              <a:t>Els usuaris hauran d’indicar l'adreça de recollida.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RF 5: </a:t>
            </a:r>
            <a:r>
              <a:rPr lang="en">
                <a:solidFill>
                  <a:schemeClr val="dk1"/>
                </a:solidFill>
              </a:rPr>
              <a:t>Els usuaris hauran de definir el seu nom d'usuari.</a:t>
            </a:r>
            <a:r>
              <a:rPr b="1" lang="en">
                <a:solidFill>
                  <a:schemeClr val="dk1"/>
                </a:solidFill>
              </a:rPr>
              <a:t> </a:t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RNF 6: </a:t>
            </a:r>
            <a:r>
              <a:rPr lang="en">
                <a:solidFill>
                  <a:schemeClr val="dk1"/>
                </a:solidFill>
              </a:rPr>
              <a:t>El nom d’usuari ha de tenir més de 5 caràcters (RNF de Decisió de disseny).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RN 7: </a:t>
            </a:r>
            <a:r>
              <a:rPr lang="en">
                <a:solidFill>
                  <a:schemeClr val="dk1"/>
                </a:solidFill>
              </a:rPr>
              <a:t>El nom d’usuari no pot estar repetit dins del sistema.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RNF 8: </a:t>
            </a:r>
            <a:r>
              <a:rPr lang="en">
                <a:solidFill>
                  <a:schemeClr val="dk1"/>
                </a:solidFill>
              </a:rPr>
              <a:t>La contrasenya ha de tenir més de 8 caràcters, tenir 2 majúscules i més de 2 caràcters especials. (RNF de Decisió de disseny).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RF 9: </a:t>
            </a:r>
            <a:r>
              <a:rPr lang="en">
                <a:solidFill>
                  <a:schemeClr val="dk1"/>
                </a:solidFill>
              </a:rPr>
              <a:t>El perfil s’ha de poder actualitzar.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RF 10: </a:t>
            </a:r>
            <a:r>
              <a:rPr lang="en">
                <a:solidFill>
                  <a:schemeClr val="dk1"/>
                </a:solidFill>
              </a:rPr>
              <a:t>El perfil s’ha d’eliminar quan el donem de baixa.</a:t>
            </a:r>
            <a:r>
              <a:rPr b="1" lang="en">
                <a:solidFill>
                  <a:schemeClr val="dk1"/>
                </a:solidFill>
              </a:rPr>
              <a:t> </a:t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RF 11: </a:t>
            </a:r>
            <a:r>
              <a:rPr lang="en">
                <a:solidFill>
                  <a:schemeClr val="dk1"/>
                </a:solidFill>
              </a:rPr>
              <a:t>S’ha d’indicar el tipus de compte que es vol crear (client, repartidor o cuiner).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RNF 12: </a:t>
            </a:r>
            <a:r>
              <a:rPr lang="en">
                <a:solidFill>
                  <a:schemeClr val="dk1"/>
                </a:solidFill>
              </a:rPr>
              <a:t>Els rols que s'han assumit es poden modificar en qualsevol moment. (RNF de Decisió de disseny).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6"/>
          <p:cNvSpPr txBox="1"/>
          <p:nvPr>
            <p:ph type="title"/>
          </p:nvPr>
        </p:nvSpPr>
        <p:spPr>
          <a:xfrm>
            <a:off x="228600" y="228600"/>
            <a:ext cx="86868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Requisits</a:t>
            </a:r>
            <a:endParaRPr/>
          </a:p>
        </p:txBody>
      </p:sp>
      <p:sp>
        <p:nvSpPr>
          <p:cNvPr id="151" name="Google Shape;151;p26"/>
          <p:cNvSpPr txBox="1"/>
          <p:nvPr/>
        </p:nvSpPr>
        <p:spPr>
          <a:xfrm>
            <a:off x="228600" y="801300"/>
            <a:ext cx="8686800" cy="38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1"/>
                </a:solidFill>
              </a:rPr>
              <a:t>GRUP 2: REALITZACIÓ DE COMANDES</a:t>
            </a:r>
            <a:endParaRPr b="1"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1"/>
                </a:solidFill>
              </a:rPr>
              <a:t>RF 13: </a:t>
            </a:r>
            <a:r>
              <a:rPr lang="en" sz="1300">
                <a:solidFill>
                  <a:schemeClr val="dk1"/>
                </a:solidFill>
              </a:rPr>
              <a:t>Es poden indicar restriccions alimentaries al perfil. 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1"/>
                </a:solidFill>
              </a:rPr>
              <a:t>RF 14: </a:t>
            </a:r>
            <a:r>
              <a:rPr lang="en" sz="1300">
                <a:solidFill>
                  <a:schemeClr val="dk1"/>
                </a:solidFill>
              </a:rPr>
              <a:t>Els clients poden consultar tots els plats i menús que son oferits en el moment. 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1"/>
                </a:solidFill>
              </a:rPr>
              <a:t>RNF 15: </a:t>
            </a:r>
            <a:r>
              <a:rPr lang="en" sz="1300">
                <a:solidFill>
                  <a:schemeClr val="dk1"/>
                </a:solidFill>
              </a:rPr>
              <a:t>Es mostraran primer els plats i menús que compleixen amb les restriccions alimentaries indicades al perfil. (RNF de Decisió de disseny). 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1"/>
                </a:solidFill>
              </a:rPr>
              <a:t>RNF 16: </a:t>
            </a:r>
            <a:r>
              <a:rPr lang="en" sz="1300">
                <a:solidFill>
                  <a:schemeClr val="dk1"/>
                </a:solidFill>
              </a:rPr>
              <a:t>També es visualitza el temps estimat d'entrega (RNF de Interfície externa). 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1"/>
                </a:solidFill>
              </a:rPr>
              <a:t>RF 17: </a:t>
            </a:r>
            <a:r>
              <a:rPr lang="en" sz="1300">
                <a:solidFill>
                  <a:schemeClr val="dk1"/>
                </a:solidFill>
              </a:rPr>
              <a:t>Els usuaris poden escollir entre dos vistes: Un llistat de plats i menús, o un llistat dels usuaris que ofereixen serveis en aquell moment, dels quals el client pot veure els plats oferits.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1"/>
                </a:solidFill>
              </a:rPr>
              <a:t>RNF 18: </a:t>
            </a:r>
            <a:r>
              <a:rPr lang="en" sz="1300">
                <a:solidFill>
                  <a:schemeClr val="dk1"/>
                </a:solidFill>
              </a:rPr>
              <a:t>Les dos llistes seran ordenades segons la distància física entre client i cuiner (RNF de Decisió de disseny).</a:t>
            </a:r>
            <a:r>
              <a:rPr b="1" lang="en" sz="1300">
                <a:solidFill>
                  <a:schemeClr val="dk1"/>
                </a:solidFill>
              </a:rPr>
              <a:t> </a:t>
            </a:r>
            <a:endParaRPr b="1"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1"/>
                </a:solidFill>
              </a:rPr>
              <a:t>RF 19: </a:t>
            </a:r>
            <a:r>
              <a:rPr lang="en" sz="1300">
                <a:solidFill>
                  <a:schemeClr val="dk1"/>
                </a:solidFill>
              </a:rPr>
              <a:t>Els clients poden cercar per nom un plat o cuiner específics i reservar una comanda per a una hora en què el cuiner estigui disponible.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1"/>
                </a:solidFill>
              </a:rPr>
              <a:t>RNF 20: </a:t>
            </a:r>
            <a:r>
              <a:rPr lang="en" sz="1300">
                <a:solidFill>
                  <a:schemeClr val="dk1"/>
                </a:solidFill>
              </a:rPr>
              <a:t>Els cuiners poden aparèixer en el llistat com a no disponibles, indicant l'hora en què poden acceptar comandes. (RNF de Decisió de disseny). 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1"/>
                </a:solidFill>
              </a:rPr>
              <a:t>RF 21: </a:t>
            </a:r>
            <a:r>
              <a:rPr lang="en" sz="1300">
                <a:solidFill>
                  <a:schemeClr val="dk1"/>
                </a:solidFill>
              </a:rPr>
              <a:t>Els usuaris poden consultar els al·lèrgens i ingredients que contenen els plats i modificar els ingredients indicats com a opcionals per l'autor de la recepta. 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1"/>
                </a:solidFill>
              </a:rPr>
              <a:t>RNF 22: </a:t>
            </a:r>
            <a:r>
              <a:rPr lang="en" sz="1300">
                <a:solidFill>
                  <a:schemeClr val="dk1"/>
                </a:solidFill>
              </a:rPr>
              <a:t>Un mateix client no podrà tenir més de tres comandes actives alhora. (RNF de Rendiment estàtic). 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1"/>
                </a:solidFill>
              </a:rPr>
              <a:t>RF 23: </a:t>
            </a:r>
            <a:r>
              <a:rPr lang="en" sz="1300">
                <a:solidFill>
                  <a:schemeClr val="dk1"/>
                </a:solidFill>
              </a:rPr>
              <a:t>Els clients podran consultar el seu historial de comandes, i repetir una comanda previa si està disponible en el moment. 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7"/>
          <p:cNvSpPr txBox="1"/>
          <p:nvPr>
            <p:ph type="title"/>
          </p:nvPr>
        </p:nvSpPr>
        <p:spPr>
          <a:xfrm>
            <a:off x="228600" y="228600"/>
            <a:ext cx="86868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Requisits</a:t>
            </a:r>
            <a:endParaRPr/>
          </a:p>
        </p:txBody>
      </p:sp>
      <p:sp>
        <p:nvSpPr>
          <p:cNvPr id="157" name="Google Shape;157;p27"/>
          <p:cNvSpPr txBox="1"/>
          <p:nvPr/>
        </p:nvSpPr>
        <p:spPr>
          <a:xfrm>
            <a:off x="228600" y="801300"/>
            <a:ext cx="8686800" cy="38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GRUP 3: ENVIAMENT DE COMANDES</a:t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RF 24: </a:t>
            </a:r>
            <a:r>
              <a:rPr lang="en">
                <a:solidFill>
                  <a:schemeClr val="dk1"/>
                </a:solidFill>
              </a:rPr>
              <a:t>Es pot escollir entre tres tipus d’enviament (que l’envii el cuiner, un repartidor, o que el busqui el client). 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RF 25: </a:t>
            </a:r>
            <a:r>
              <a:rPr lang="en">
                <a:solidFill>
                  <a:schemeClr val="dk1"/>
                </a:solidFill>
              </a:rPr>
              <a:t>El cost de l’enviament es calcula segons la distància entre el cuiner i el</a:t>
            </a:r>
            <a:r>
              <a:rPr b="1" lang="en">
                <a:solidFill>
                  <a:schemeClr val="dk1"/>
                </a:solidFill>
              </a:rPr>
              <a:t> </a:t>
            </a:r>
            <a:r>
              <a:rPr lang="en">
                <a:solidFill>
                  <a:schemeClr val="dk1"/>
                </a:solidFill>
              </a:rPr>
              <a:t>lloc de lliurament.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RF 26: </a:t>
            </a:r>
            <a:r>
              <a:rPr lang="en">
                <a:solidFill>
                  <a:schemeClr val="dk1"/>
                </a:solidFill>
              </a:rPr>
              <a:t>L’enviament és gratuït quan el client recull la comanda al domicili del cuiner.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RF 27: </a:t>
            </a:r>
            <a:r>
              <a:rPr lang="en">
                <a:solidFill>
                  <a:schemeClr val="dk1"/>
                </a:solidFill>
              </a:rPr>
              <a:t>El client pot seguir el progrés de l’entrega un cop l’enviament ha començat.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RNF 28: </a:t>
            </a:r>
            <a:r>
              <a:rPr lang="en">
                <a:solidFill>
                  <a:schemeClr val="dk1"/>
                </a:solidFill>
              </a:rPr>
              <a:t>La posició del repartidor es mostra en un mapa utilitzant la interfície de Google Maps. (RNF d’Interfícies Externes).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8"/>
          <p:cNvSpPr txBox="1"/>
          <p:nvPr>
            <p:ph type="title"/>
          </p:nvPr>
        </p:nvSpPr>
        <p:spPr>
          <a:xfrm>
            <a:off x="228600" y="228600"/>
            <a:ext cx="86868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Requisits</a:t>
            </a:r>
            <a:endParaRPr/>
          </a:p>
        </p:txBody>
      </p:sp>
      <p:sp>
        <p:nvSpPr>
          <p:cNvPr id="163" name="Google Shape;163;p28"/>
          <p:cNvSpPr txBox="1"/>
          <p:nvPr/>
        </p:nvSpPr>
        <p:spPr>
          <a:xfrm>
            <a:off x="228600" y="801300"/>
            <a:ext cx="8686800" cy="38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GRUP 4: PAGAMENT DE LA COMANDA</a:t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RF 29:</a:t>
            </a:r>
            <a:r>
              <a:rPr lang="en">
                <a:solidFill>
                  <a:schemeClr val="dk1"/>
                </a:solidFill>
              </a:rPr>
              <a:t> El pagament de la comanda es fa des de la mateixa aplicació amb targeta bancària o Paypal.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RNF 30: </a:t>
            </a:r>
            <a:r>
              <a:rPr lang="en">
                <a:solidFill>
                  <a:schemeClr val="dk1"/>
                </a:solidFill>
              </a:rPr>
              <a:t>El sistema s'ha de connectar amb la plataforma de pagament corresponent per autenticar les dades i confirmar la transacció. (RNF d’Interfícies Externes).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RF 31: </a:t>
            </a:r>
            <a:r>
              <a:rPr lang="en">
                <a:solidFill>
                  <a:schemeClr val="dk1"/>
                </a:solidFill>
              </a:rPr>
              <a:t>Un cop pagada la comanda, el sistema realitza l'ingrés al cuiner i al repartidor.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RNF 32: </a:t>
            </a:r>
            <a:r>
              <a:rPr lang="en">
                <a:solidFill>
                  <a:schemeClr val="dk1"/>
                </a:solidFill>
              </a:rPr>
              <a:t>El cuiner i el repartidor han de tenir un compte bancari associat al seu perfil d'usuari. (RNF de Restricció de Disseny, seguretat).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9"/>
          <p:cNvSpPr txBox="1"/>
          <p:nvPr>
            <p:ph type="title"/>
          </p:nvPr>
        </p:nvSpPr>
        <p:spPr>
          <a:xfrm>
            <a:off x="228600" y="228600"/>
            <a:ext cx="86868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Requisits</a:t>
            </a:r>
            <a:endParaRPr/>
          </a:p>
        </p:txBody>
      </p:sp>
      <p:sp>
        <p:nvSpPr>
          <p:cNvPr id="169" name="Google Shape;169;p29"/>
          <p:cNvSpPr txBox="1"/>
          <p:nvPr/>
        </p:nvSpPr>
        <p:spPr>
          <a:xfrm>
            <a:off x="228600" y="801300"/>
            <a:ext cx="8686800" cy="38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GRUP 5: VALORACIÓ DE LA COMANDA</a:t>
            </a:r>
            <a:endParaRPr b="1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RF 33: </a:t>
            </a:r>
            <a:r>
              <a:rPr lang="en">
                <a:solidFill>
                  <a:schemeClr val="dk1"/>
                </a:solidFill>
              </a:rPr>
              <a:t>El client pot valorar una comanda un cop l'ha rebut en camps com "puntualitat" i "estat del menjar".</a:t>
            </a:r>
            <a:endParaRPr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RF 34: </a:t>
            </a:r>
            <a:r>
              <a:rPr lang="en">
                <a:solidFill>
                  <a:schemeClr val="dk1"/>
                </a:solidFill>
              </a:rPr>
              <a:t>Les valoracions s'associen al cuiner que ha preparat el plat. </a:t>
            </a:r>
            <a:endParaRPr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RNF 35: </a:t>
            </a:r>
            <a:r>
              <a:rPr lang="en">
                <a:solidFill>
                  <a:schemeClr val="dk1"/>
                </a:solidFill>
              </a:rPr>
              <a:t>Els cuiners recomanats s’ordenen segons la seva valoració (a major valoració, més amunt apareixen). (RNF de Decisió de Disseny). </a:t>
            </a:r>
            <a:endParaRPr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0"/>
          <p:cNvSpPr txBox="1"/>
          <p:nvPr>
            <p:ph type="title"/>
          </p:nvPr>
        </p:nvSpPr>
        <p:spPr>
          <a:xfrm>
            <a:off x="228600" y="228600"/>
            <a:ext cx="86868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Requisits</a:t>
            </a:r>
            <a:endParaRPr/>
          </a:p>
        </p:txBody>
      </p:sp>
      <p:sp>
        <p:nvSpPr>
          <p:cNvPr id="175" name="Google Shape;175;p30"/>
          <p:cNvSpPr txBox="1"/>
          <p:nvPr/>
        </p:nvSpPr>
        <p:spPr>
          <a:xfrm>
            <a:off x="228600" y="801300"/>
            <a:ext cx="8686800" cy="38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GRUP 6: FUNCIONALITATS ADDICIONALS</a:t>
            </a:r>
            <a:endParaRPr b="1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RF 36: </a:t>
            </a:r>
            <a:r>
              <a:rPr lang="en">
                <a:solidFill>
                  <a:schemeClr val="dk1"/>
                </a:solidFill>
              </a:rPr>
              <a:t>Els clients poden proposar els plats que volen consumir i aquests s'afegeixen a un menú específic on un cuiner els accepta.</a:t>
            </a:r>
            <a:endParaRPr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RNF 37: </a:t>
            </a:r>
            <a:r>
              <a:rPr lang="en">
                <a:solidFill>
                  <a:schemeClr val="dk1"/>
                </a:solidFill>
              </a:rPr>
              <a:t>Només els cuiners poden accedir al menú especific.(RNF de Restricció de Disseny, seguretat). </a:t>
            </a:r>
            <a:endParaRPr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RF 38: </a:t>
            </a:r>
            <a:r>
              <a:rPr lang="en">
                <a:solidFill>
                  <a:schemeClr val="dk1"/>
                </a:solidFill>
              </a:rPr>
              <a:t>Hi ha xat client-cuiner per a garantir un bon servei.</a:t>
            </a:r>
            <a:endParaRPr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RF 39: </a:t>
            </a:r>
            <a:r>
              <a:rPr lang="en">
                <a:solidFill>
                  <a:schemeClr val="dk1"/>
                </a:solidFill>
              </a:rPr>
              <a:t>Els usuaris es poden subscriure un pla mensual amb tarifa d'enviaments i sistema de punts. </a:t>
            </a:r>
            <a:endParaRPr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RF 40: </a:t>
            </a:r>
            <a:r>
              <a:rPr lang="en">
                <a:solidFill>
                  <a:schemeClr val="dk1"/>
                </a:solidFill>
              </a:rPr>
              <a:t>Si es realitzen comanda es guanyen punts i els punts serveixen per a obtener descomptes.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1"/>
          <p:cNvSpPr txBox="1"/>
          <p:nvPr>
            <p:ph type="title"/>
          </p:nvPr>
        </p:nvSpPr>
        <p:spPr>
          <a:xfrm>
            <a:off x="228600" y="228600"/>
            <a:ext cx="86868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Requisits</a:t>
            </a:r>
            <a:endParaRPr/>
          </a:p>
        </p:txBody>
      </p:sp>
      <p:sp>
        <p:nvSpPr>
          <p:cNvPr id="181" name="Google Shape;181;p31"/>
          <p:cNvSpPr txBox="1"/>
          <p:nvPr/>
        </p:nvSpPr>
        <p:spPr>
          <a:xfrm>
            <a:off x="228600" y="801300"/>
            <a:ext cx="8686800" cy="38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ALTRES CONSIDERACIONS</a:t>
            </a:r>
            <a:endParaRPr b="1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RNF 41: </a:t>
            </a:r>
            <a:r>
              <a:rPr lang="en">
                <a:solidFill>
                  <a:schemeClr val="dk1"/>
                </a:solidFill>
              </a:rPr>
              <a:t>Es farà servir a l'àrea metropolitana de Barcelona (RNF de Restricció de Disseny).</a:t>
            </a:r>
            <a:endParaRPr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RNF 42: </a:t>
            </a:r>
            <a:r>
              <a:rPr lang="en">
                <a:solidFill>
                  <a:schemeClr val="dk1"/>
                </a:solidFill>
              </a:rPr>
              <a:t>La interfície serà trilingüe: Espanyol, Català i Anglès (RNF d’Interfícies Externes). </a:t>
            </a:r>
            <a:endParaRPr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RNF 43: </a:t>
            </a:r>
            <a:r>
              <a:rPr lang="en">
                <a:solidFill>
                  <a:schemeClr val="dk1"/>
                </a:solidFill>
              </a:rPr>
              <a:t>Apte tant per a Web com per a Mòbil (RNF d’Interfícies Externes). </a:t>
            </a:r>
            <a:endParaRPr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RNF 44: </a:t>
            </a:r>
            <a:r>
              <a:rPr lang="en">
                <a:solidFill>
                  <a:schemeClr val="dk1"/>
                </a:solidFill>
              </a:rPr>
              <a:t>Els Mòbils hauran de tenir sistema operatiu IOS o Android (RNF de Restricció de Disseny, limitació de Hw). </a:t>
            </a:r>
            <a:endParaRPr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RNF 45: </a:t>
            </a:r>
            <a:r>
              <a:rPr lang="en">
                <a:solidFill>
                  <a:schemeClr val="dk1"/>
                </a:solidFill>
              </a:rPr>
              <a:t>Lletra Calibri tant a encapçalaments com per a la resta de continguts. (RNF d’Interfícies Externes). </a:t>
            </a:r>
            <a:endParaRPr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RNF 46: </a:t>
            </a:r>
            <a:r>
              <a:rPr lang="en">
                <a:solidFill>
                  <a:schemeClr val="dk1"/>
                </a:solidFill>
              </a:rPr>
              <a:t>Color corporatiu taronja i  El logo ha d'aparèixer a totes les pantalles. (RNF d’Interfícies Externes). </a:t>
            </a:r>
            <a:endParaRPr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RNF 47: </a:t>
            </a:r>
            <a:r>
              <a:rPr lang="en">
                <a:solidFill>
                  <a:schemeClr val="dk1"/>
                </a:solidFill>
              </a:rPr>
              <a:t>La app ha de suportar 1000 usuaris connectats alhora (RNF de Rendiment estàtic).</a:t>
            </a:r>
            <a:endParaRPr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RNF 48: </a:t>
            </a:r>
            <a:r>
              <a:rPr lang="en">
                <a:solidFill>
                  <a:schemeClr val="dk1"/>
                </a:solidFill>
              </a:rPr>
              <a:t>El temps màxim de resposta de la app ha de ser de 5 milisegons (RNF de Rendiment dinàmic).</a:t>
            </a:r>
            <a:endParaRPr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RNF 49:</a:t>
            </a:r>
            <a:r>
              <a:rPr lang="en">
                <a:solidFill>
                  <a:schemeClr val="dk1"/>
                </a:solidFill>
              </a:rPr>
              <a:t> Per a encriptar dades es farà servir el protocol OpenVPN (RNF de Decisió de Disseny).</a:t>
            </a:r>
            <a:endParaRPr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RNF 50: </a:t>
            </a:r>
            <a:r>
              <a:rPr lang="en">
                <a:solidFill>
                  <a:schemeClr val="dk1"/>
                </a:solidFill>
              </a:rPr>
              <a:t>Interfície amigable i responsive. (RNF d'Objectius de Disseny</a:t>
            </a:r>
            <a:r>
              <a:rPr b="1" lang="en">
                <a:solidFill>
                  <a:schemeClr val="dk1"/>
                </a:solidFill>
              </a:rPr>
              <a:t>). </a:t>
            </a:r>
            <a:endParaRPr b="1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2"/>
          <p:cNvSpPr txBox="1"/>
          <p:nvPr>
            <p:ph type="title"/>
          </p:nvPr>
        </p:nvSpPr>
        <p:spPr>
          <a:xfrm>
            <a:off x="228600" y="228600"/>
            <a:ext cx="86868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Burn-down chart</a:t>
            </a:r>
            <a:endParaRPr/>
          </a:p>
        </p:txBody>
      </p:sp>
      <p:pic>
        <p:nvPicPr>
          <p:cNvPr id="187" name="Google Shape;187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97271" y="972326"/>
            <a:ext cx="2987298" cy="35519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88" name="Google Shape;188;p3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59444" y="972326"/>
            <a:ext cx="3145298" cy="35519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Dark Theme by Slidesgo">
  <a:themeElements>
    <a:clrScheme name="Simple Light">
      <a:dk1>
        <a:srgbClr val="FFFFFF"/>
      </a:dk1>
      <a:lt1>
        <a:srgbClr val="0D0D0D"/>
      </a:lt1>
      <a:dk2>
        <a:srgbClr val="FFFFFF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