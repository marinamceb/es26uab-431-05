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Hind"/>
      <p:regular r:id="rId20"/>
      <p:bold r:id="rId21"/>
    </p:embeddedFont>
    <p:embeddedFont>
      <p:font typeface="Space Grotesk Medium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ind-regular.fntdata"/><Relationship Id="rId22" Type="http://schemas.openxmlformats.org/officeDocument/2006/relationships/font" Target="fonts/SpaceGroteskMedium-regular.fntdata"/><Relationship Id="rId21" Type="http://schemas.openxmlformats.org/officeDocument/2006/relationships/font" Target="fonts/Hind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SpaceGrotesk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paceGrotes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70ef3b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70ef3b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2d10b5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2d10b5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2b60795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02b60795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de la 1a interview: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Perfil d’usuari NO registrat (pot consultar però no fer comandes)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Perfil d’usuari </a:t>
            </a:r>
            <a:r>
              <a:rPr lang="en">
                <a:solidFill>
                  <a:schemeClr val="dk1"/>
                </a:solidFill>
              </a:rPr>
              <a:t>registrat </a:t>
            </a:r>
            <a:r>
              <a:rPr lang="en"/>
              <a:t>(base), dels quals pengen client cuiner i repartidor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Perfils de noseque externes (Google maps, paypal…) → esto de momento no lo hemos hecho en clase, ignorar :D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Cuiner no </a:t>
            </a:r>
            <a:r>
              <a:rPr lang="en" u="sng"/>
              <a:t>contracta</a:t>
            </a:r>
            <a:r>
              <a:rPr lang="en"/>
              <a:t>,</a:t>
            </a:r>
            <a:r>
              <a:rPr lang="en"/>
              <a:t> es la app.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056cbdf6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056cbdf6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Definición de un perfil de usuario no registrado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70ef3b9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f70ef3b9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EN LOS MARKDOWN DE TODOS LOS REQUISITOS: Revisar los títulos, tienen que tener verbo.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Cambiar las numeraciones.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4 i 5 kk (relacionats amb registre de compte, se pueden eliminar)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7 kk (RNF)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e79b5b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0e79b5b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Dijimos que eran RF, pero son RNF.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Hemos fusionado “definir nom” + “que no estigui repetit”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060f51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6060f51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20 tiene funcional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e79b5b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0e79b5b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20 tiene funcional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Separar en 2 requisitos diferentes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e79b5b1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0e79b5b1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26 fusionar amb 25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</a:t>
            </a:r>
            <a:r>
              <a:rPr lang="en"/>
              <a:t>Cálculo</a:t>
            </a:r>
            <a:r>
              <a:rPr lang="en"/>
              <a:t> de costes de envío” + “envío gratis” en un solo requisito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060f51c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6060f51c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31 fusionar con 29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32 lo pondria en creacion de comptes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“Pago con tarjeta/PayPal” + “cocinero y repartidor reciben ingreso”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060f51c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6060f51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34 fusionat amb 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“Cliente escribe valoración” + ·Valoración asociada al cocinero”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060f51c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6060f51c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40 fusionar amb fer comanda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 se añadió al GRUP 2 (RF-2-12: Si es fan comandes es guanyen punts que serveixen per a obtenir descomptes.)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6060f51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6060f51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Feedback de la 1a presentación: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Todo ok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f70ef3b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f70ef3b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Tiene que empezar en el día 0 :))  *dia 1*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sprint acaba el domingo DESPUÉS de la presentación (este debería acabar el 22/03)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Poner tasques en vez de horas de trabajo, o cambiar el titulo “story points” por “hours”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766500"/>
            <a:ext cx="6204300" cy="29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28600" y="3940200"/>
            <a:ext cx="6505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4408725" y="3456300"/>
            <a:ext cx="450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28622" y="1397700"/>
            <a:ext cx="8686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28600" y="1042800"/>
            <a:ext cx="86868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4408771" y="3101400"/>
            <a:ext cx="45066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" name="Google Shape;24;p5"/>
          <p:cNvSpPr/>
          <p:nvPr>
            <p:ph idx="5" type="pic"/>
          </p:nvPr>
        </p:nvSpPr>
        <p:spPr>
          <a:xfrm flipH="1">
            <a:off x="228599" y="2807700"/>
            <a:ext cx="3693600" cy="186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228600" y="1313400"/>
            <a:ext cx="6576000" cy="13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4803000" y="3399000"/>
            <a:ext cx="4112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hasCustomPrompt="1" idx="2" type="title"/>
          </p:nvPr>
        </p:nvSpPr>
        <p:spPr>
          <a:xfrm>
            <a:off x="228600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3" type="title"/>
          </p:nvPr>
        </p:nvSpPr>
        <p:spPr>
          <a:xfrm>
            <a:off x="228600" y="228056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4" type="title"/>
          </p:nvPr>
        </p:nvSpPr>
        <p:spPr>
          <a:xfrm>
            <a:off x="2751896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5" type="title"/>
          </p:nvPr>
        </p:nvSpPr>
        <p:spPr>
          <a:xfrm>
            <a:off x="2751896" y="228057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6" type="title"/>
          </p:nvPr>
        </p:nvSpPr>
        <p:spPr>
          <a:xfrm>
            <a:off x="228599" y="366519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hasCustomPrompt="1" idx="7" type="title"/>
          </p:nvPr>
        </p:nvSpPr>
        <p:spPr>
          <a:xfrm>
            <a:off x="2751899" y="3665211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2286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8" type="subTitle"/>
          </p:nvPr>
        </p:nvSpPr>
        <p:spPr>
          <a:xfrm>
            <a:off x="27519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9" type="subTitle"/>
          </p:nvPr>
        </p:nvSpPr>
        <p:spPr>
          <a:xfrm>
            <a:off x="228600" y="414310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3" type="subTitle"/>
          </p:nvPr>
        </p:nvSpPr>
        <p:spPr>
          <a:xfrm>
            <a:off x="2286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4" type="subTitle"/>
          </p:nvPr>
        </p:nvSpPr>
        <p:spPr>
          <a:xfrm>
            <a:off x="27519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5" type="subTitle"/>
          </p:nvPr>
        </p:nvSpPr>
        <p:spPr>
          <a:xfrm>
            <a:off x="2751900" y="4143202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3"/>
          <p:cNvSpPr/>
          <p:nvPr>
            <p:ph idx="16" type="pic"/>
          </p:nvPr>
        </p:nvSpPr>
        <p:spPr>
          <a:xfrm>
            <a:off x="5655325" y="895950"/>
            <a:ext cx="3260100" cy="401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28600" y="888300"/>
            <a:ext cx="7496100" cy="15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528775" y="2624550"/>
            <a:ext cx="6387300" cy="16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28600" y="2215200"/>
            <a:ext cx="4356000" cy="26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4778100" y="228600"/>
            <a:ext cx="4137300" cy="468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778050" y="1334504"/>
            <a:ext cx="4137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778050" y="2666116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3" type="subTitle"/>
          </p:nvPr>
        </p:nvSpPr>
        <p:spPr>
          <a:xfrm>
            <a:off x="4778050" y="3997725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4778050" y="979600"/>
            <a:ext cx="4137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subTitle"/>
          </p:nvPr>
        </p:nvSpPr>
        <p:spPr>
          <a:xfrm>
            <a:off x="4778050" y="231120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6" type="subTitle"/>
          </p:nvPr>
        </p:nvSpPr>
        <p:spPr>
          <a:xfrm>
            <a:off x="4778050" y="364281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" name="Google Shape;72;p16"/>
          <p:cNvSpPr/>
          <p:nvPr>
            <p:ph idx="7" type="pic"/>
          </p:nvPr>
        </p:nvSpPr>
        <p:spPr>
          <a:xfrm>
            <a:off x="228600" y="891600"/>
            <a:ext cx="3602700" cy="402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513256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4727444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subTitle"/>
          </p:nvPr>
        </p:nvSpPr>
        <p:spPr>
          <a:xfrm>
            <a:off x="513256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subTitle"/>
          </p:nvPr>
        </p:nvSpPr>
        <p:spPr>
          <a:xfrm>
            <a:off x="4727444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5" type="subTitle"/>
          </p:nvPr>
        </p:nvSpPr>
        <p:spPr>
          <a:xfrm>
            <a:off x="513257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subTitle"/>
          </p:nvPr>
        </p:nvSpPr>
        <p:spPr>
          <a:xfrm>
            <a:off x="513257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subTitle"/>
          </p:nvPr>
        </p:nvSpPr>
        <p:spPr>
          <a:xfrm>
            <a:off x="4727408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4727408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28603" y="669425"/>
            <a:ext cx="56175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28601" y="1962425"/>
            <a:ext cx="26058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/>
        </p:nvSpPr>
        <p:spPr>
          <a:xfrm>
            <a:off x="6732300" y="3519775"/>
            <a:ext cx="218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b="1" sz="1000" u="sng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b="1" sz="2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9.jpg"/><Relationship Id="rId5" Type="http://schemas.openxmlformats.org/officeDocument/2006/relationships/image" Target="../media/image1.jpg"/><Relationship Id="rId6" Type="http://schemas.openxmlformats.org/officeDocument/2006/relationships/image" Target="../media/image7.jp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5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710400" y="80100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Enginyeria del Software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Pràctiques: Grup 431-05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 2025-2026</a:t>
            </a:r>
            <a:endParaRPr sz="8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96" name="Google Shape;96;p21"/>
          <p:cNvCxnSpPr>
            <a:stCxn id="95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21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733000" y="342420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01: Requisits Funcionals i No Funcionals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28600" y="1362172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Composició de l’equip</a:t>
            </a:r>
            <a:endParaRPr/>
          </a:p>
        </p:txBody>
      </p:sp>
      <p:sp>
        <p:nvSpPr>
          <p:cNvPr id="104" name="Google Shape;104;p22"/>
          <p:cNvSpPr txBox="1"/>
          <p:nvPr>
            <p:ph idx="4294967295" type="subTitle"/>
          </p:nvPr>
        </p:nvSpPr>
        <p:spPr>
          <a:xfrm>
            <a:off x="1354521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</a:t>
            </a:r>
            <a:r>
              <a:rPr lang="en"/>
              <a:t>rina Martín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(Scrum Master)</a:t>
            </a:r>
            <a:endParaRPr/>
          </a:p>
        </p:txBody>
      </p:sp>
      <p:sp>
        <p:nvSpPr>
          <p:cNvPr id="105" name="Google Shape;105;p22"/>
          <p:cNvSpPr txBox="1"/>
          <p:nvPr>
            <p:ph idx="4294967295" type="subTitle"/>
          </p:nvPr>
        </p:nvSpPr>
        <p:spPr>
          <a:xfrm>
            <a:off x="3053694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Ariadna Cano</a:t>
            </a:r>
            <a:endParaRPr/>
          </a:p>
        </p:txBody>
      </p:sp>
      <p:sp>
        <p:nvSpPr>
          <p:cNvPr id="106" name="Google Shape;106;p22"/>
          <p:cNvSpPr txBox="1"/>
          <p:nvPr>
            <p:ph idx="4294967295" type="subTitle"/>
          </p:nvPr>
        </p:nvSpPr>
        <p:spPr>
          <a:xfrm>
            <a:off x="4680462" y="3376316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Luna</a:t>
            </a:r>
            <a:endParaRPr/>
          </a:p>
        </p:txBody>
      </p:sp>
      <p:sp>
        <p:nvSpPr>
          <p:cNvPr id="107" name="Google Shape;107;p22"/>
          <p:cNvSpPr txBox="1"/>
          <p:nvPr>
            <p:ph idx="4294967295" type="subTitle"/>
          </p:nvPr>
        </p:nvSpPr>
        <p:spPr>
          <a:xfrm>
            <a:off x="6307194" y="3376323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Daria Radoi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787" y="2257725"/>
            <a:ext cx="1068128" cy="106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9763" y="2275875"/>
            <a:ext cx="1031826" cy="103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IMG-20250713-WA0003.jpg"/>
          <p:cNvPicPr preferRelativeResize="0"/>
          <p:nvPr/>
        </p:nvPicPr>
        <p:blipFill rotWithShape="1">
          <a:blip r:embed="rId5">
            <a:alphaModFix/>
          </a:blip>
          <a:srcRect b="41890" l="20975" r="52416" t="38154"/>
          <a:stretch/>
        </p:blipFill>
        <p:spPr>
          <a:xfrm>
            <a:off x="3260775" y="2257725"/>
            <a:ext cx="1068150" cy="10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WhatsApp Image 2026-03-15 at 17.03.54.jpeg"/>
          <p:cNvPicPr preferRelativeResize="0"/>
          <p:nvPr/>
        </p:nvPicPr>
        <p:blipFill rotWithShape="1">
          <a:blip r:embed="rId6">
            <a:alphaModFix/>
          </a:blip>
          <a:srcRect b="44864" l="43153" r="40663" t="42841"/>
          <a:stretch/>
        </p:blipFill>
        <p:spPr>
          <a:xfrm>
            <a:off x="6514275" y="2275875"/>
            <a:ext cx="1031826" cy="104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7">
            <a:alphaModFix/>
          </a:blip>
          <a:srcRect b="53444" l="3895" r="56438" t="26495"/>
          <a:stretch/>
        </p:blipFill>
        <p:spPr>
          <a:xfrm>
            <a:off x="4932000" y="2241575"/>
            <a:ext cx="979193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0" y="228600"/>
            <a:ext cx="52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Tasques fetes a l’sprint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6638"/>
          <a:stretch/>
        </p:blipFill>
        <p:spPr>
          <a:xfrm>
            <a:off x="5251554" y="0"/>
            <a:ext cx="38924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>
            <p:ph idx="6" type="subTitle"/>
          </p:nvPr>
        </p:nvSpPr>
        <p:spPr>
          <a:xfrm>
            <a:off x="785400" y="1405125"/>
            <a:ext cx="3680700" cy="29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1- Fer un repositori en GitHub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2- </a:t>
            </a:r>
            <a:r>
              <a:rPr lang="en" sz="1300"/>
              <a:t>Fer un tauler en Trello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3- </a:t>
            </a:r>
            <a:r>
              <a:rPr lang="en" sz="1300"/>
              <a:t>Identificar Requisits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latin typeface="Hind"/>
                <a:ea typeface="Hind"/>
                <a:cs typeface="Hind"/>
                <a:sym typeface="Hind"/>
              </a:rPr>
              <a:t>(i escriure’ls al Document d’Especificacions)</a:t>
            </a:r>
            <a:endParaRPr b="0" sz="900"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4- </a:t>
            </a:r>
            <a:r>
              <a:rPr lang="en" sz="1300"/>
              <a:t>Identificar perfils d’usuari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latin typeface="Hind"/>
                <a:ea typeface="Hind"/>
                <a:cs typeface="Hind"/>
                <a:sym typeface="Hind"/>
              </a:rPr>
              <a:t>(i escriure’ls al Document d’Especificacions)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5- </a:t>
            </a:r>
            <a:r>
              <a:rPr lang="en" sz="1300"/>
              <a:t>Passar-ho tot al Power Point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6- </a:t>
            </a:r>
            <a:r>
              <a:rPr lang="en" sz="1300"/>
              <a:t>Fer el fitxer Markdown de cada requeriment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1594750" y="2884275"/>
            <a:ext cx="2943300" cy="201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Perfils d’usuari a l’aplicació QUEMENGES</a:t>
            </a:r>
            <a:endParaRPr/>
          </a:p>
        </p:txBody>
      </p:sp>
      <p:sp>
        <p:nvSpPr>
          <p:cNvPr id="126" name="Google Shape;126;p24"/>
          <p:cNvSpPr txBox="1"/>
          <p:nvPr>
            <p:ph idx="6" type="subTitle"/>
          </p:nvPr>
        </p:nvSpPr>
        <p:spPr>
          <a:xfrm>
            <a:off x="3074000" y="2968275"/>
            <a:ext cx="12618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Repartidor</a:t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074000" y="3342413"/>
            <a:ext cx="14046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Envia </a:t>
            </a:r>
            <a:r>
              <a:rPr lang="en"/>
              <a:t>comandes</a:t>
            </a:r>
            <a:r>
              <a:rPr lang="en"/>
              <a:t> des del domicili del Cuiner fins al punt de recollida. Rep pagaments. </a:t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1594750" y="801300"/>
            <a:ext cx="2943300" cy="201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4605950" y="801288"/>
            <a:ext cx="2943300" cy="201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0" name="Google Shape;130;p24"/>
          <p:cNvSpPr txBox="1"/>
          <p:nvPr>
            <p:ph idx="2" type="subTitle"/>
          </p:nvPr>
        </p:nvSpPr>
        <p:spPr>
          <a:xfrm>
            <a:off x="6287325" y="1253688"/>
            <a:ext cx="1261800" cy="14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 menjars per a que els clients puguin fer comandes. Rep pagaments i valoracions. </a:t>
            </a:r>
            <a:endParaRPr/>
          </a:p>
        </p:txBody>
      </p:sp>
      <p:sp>
        <p:nvSpPr>
          <p:cNvPr id="131" name="Google Shape;131;p24"/>
          <p:cNvSpPr txBox="1"/>
          <p:nvPr>
            <p:ph idx="7" type="subTitle"/>
          </p:nvPr>
        </p:nvSpPr>
        <p:spPr>
          <a:xfrm>
            <a:off x="6287325" y="898788"/>
            <a:ext cx="12618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Cuiner</a:t>
            </a:r>
            <a:endParaRPr/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3100407" y="1484323"/>
            <a:ext cx="14373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Demana, paga i valora comandes.  </a:t>
            </a:r>
            <a:endParaRPr/>
          </a:p>
        </p:txBody>
      </p:sp>
      <p:sp>
        <p:nvSpPr>
          <p:cNvPr id="133" name="Google Shape;133;p24"/>
          <p:cNvSpPr txBox="1"/>
          <p:nvPr>
            <p:ph idx="5" type="subTitle"/>
          </p:nvPr>
        </p:nvSpPr>
        <p:spPr>
          <a:xfrm>
            <a:off x="3100414" y="1025606"/>
            <a:ext cx="1437300" cy="5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pic>
        <p:nvPicPr>
          <p:cNvPr id="134" name="Google Shape;134;p24" title="Recetas de pasta de Karlos Arguiñano _ Web oficial Antena 3.jpg"/>
          <p:cNvPicPr preferRelativeResize="0"/>
          <p:nvPr/>
        </p:nvPicPr>
        <p:blipFill rotWithShape="1">
          <a:blip r:embed="rId3">
            <a:alphaModFix/>
          </a:blip>
          <a:srcRect b="0" l="19533" r="19539" t="0"/>
          <a:stretch/>
        </p:blipFill>
        <p:spPr>
          <a:xfrm>
            <a:off x="4706000" y="887825"/>
            <a:ext cx="1495200" cy="1840525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pic>
        <p:nvPicPr>
          <p:cNvPr id="135" name="Google Shape;135;p24" title="meme drôle.jpg"/>
          <p:cNvPicPr preferRelativeResize="0"/>
          <p:nvPr/>
        </p:nvPicPr>
        <p:blipFill rotWithShape="1">
          <a:blip r:embed="rId4">
            <a:alphaModFix/>
          </a:blip>
          <a:srcRect b="0" l="4762" r="-10" t="4607"/>
          <a:stretch/>
        </p:blipFill>
        <p:spPr>
          <a:xfrm>
            <a:off x="1740700" y="920113"/>
            <a:ext cx="1201800" cy="1776001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pic>
        <p:nvPicPr>
          <p:cNvPr id="136" name="Google Shape;136;p24" title="Pizza Delivery Man stock image_ Image of smiling, italian - 7741877.jpg"/>
          <p:cNvPicPr preferRelativeResize="0"/>
          <p:nvPr/>
        </p:nvPicPr>
        <p:blipFill rotWithShape="1">
          <a:blip r:embed="rId5">
            <a:alphaModFix/>
          </a:blip>
          <a:srcRect b="0" l="0" r="6925" t="6103"/>
          <a:stretch/>
        </p:blipFill>
        <p:spPr>
          <a:xfrm>
            <a:off x="1692950" y="2973904"/>
            <a:ext cx="1261800" cy="1818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4605950" y="2884288"/>
            <a:ext cx="2943300" cy="201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8" name="Google Shape;138;p24"/>
          <p:cNvSpPr txBox="1"/>
          <p:nvPr>
            <p:ph idx="6" type="subTitle"/>
          </p:nvPr>
        </p:nvSpPr>
        <p:spPr>
          <a:xfrm>
            <a:off x="4800350" y="3586275"/>
            <a:ext cx="2554500" cy="4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Usuaris Registrats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Perfils d’usuari a l’aplicació QUEMENGES</a:t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1822950" y="1245150"/>
            <a:ext cx="2943300" cy="26532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5" name="Google Shape;145;p25"/>
          <p:cNvSpPr txBox="1"/>
          <p:nvPr>
            <p:ph idx="6" type="subTitle"/>
          </p:nvPr>
        </p:nvSpPr>
        <p:spPr>
          <a:xfrm>
            <a:off x="2017350" y="1668994"/>
            <a:ext cx="2554500" cy="74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Usuari No Registrat</a:t>
            </a:r>
            <a:endParaRPr sz="2700"/>
          </a:p>
        </p:txBody>
      </p:sp>
      <p:sp>
        <p:nvSpPr>
          <p:cNvPr id="146" name="Google Shape;146;p25"/>
          <p:cNvSpPr txBox="1"/>
          <p:nvPr>
            <p:ph idx="1" type="subTitle"/>
          </p:nvPr>
        </p:nvSpPr>
        <p:spPr>
          <a:xfrm>
            <a:off x="2017350" y="2565200"/>
            <a:ext cx="19797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 navegar per l’aplicació, però no pot fer cap comanda ni preparar cap plat.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21429" r="14546" t="0"/>
          <a:stretch/>
        </p:blipFill>
        <p:spPr>
          <a:xfrm>
            <a:off x="4766250" y="1245150"/>
            <a:ext cx="2554500" cy="26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>
            <p:ph idx="6" type="subTitle"/>
          </p:nvPr>
        </p:nvSpPr>
        <p:spPr>
          <a:xfrm>
            <a:off x="2954350" y="3585150"/>
            <a:ext cx="1812000" cy="3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Modificat!!!</a:t>
            </a:r>
            <a:endParaRPr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214796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GRUP 1: GESTIÓ DE COMPTES I CREACIÓ DE PERFILS D'USUARI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RF-1-01: </a:t>
            </a:r>
            <a:r>
              <a:rPr lang="en" sz="1300">
                <a:solidFill>
                  <a:schemeClr val="dk1"/>
                </a:solidFill>
              </a:rPr>
              <a:t>Els usuaris podran registrar-se amb </a:t>
            </a:r>
            <a:r>
              <a:rPr lang="en" sz="1300">
                <a:solidFill>
                  <a:schemeClr val="dk1"/>
                </a:solidFill>
              </a:rPr>
              <a:t>c</a:t>
            </a:r>
            <a:r>
              <a:rPr lang="en" sz="1300">
                <a:solidFill>
                  <a:schemeClr val="dk1"/>
                </a:solidFill>
              </a:rPr>
              <a:t>orreu.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RF-1-02: </a:t>
            </a:r>
            <a:r>
              <a:rPr lang="en" sz="1300">
                <a:solidFill>
                  <a:schemeClr val="dk1"/>
                </a:solidFill>
              </a:rPr>
              <a:t>Només els usuaris registrats podran fer comandes.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-1-03: </a:t>
            </a:r>
            <a:r>
              <a:rPr lang="en" sz="1300">
                <a:solidFill>
                  <a:schemeClr val="dk1"/>
                </a:solidFill>
              </a:rPr>
              <a:t>Els clients podran registrar-se amb Gmail o amb Outlook.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-1-04: </a:t>
            </a:r>
            <a:r>
              <a:rPr lang="en" sz="1300">
                <a:solidFill>
                  <a:schemeClr val="dk1"/>
                </a:solidFill>
              </a:rPr>
              <a:t>Els usuaris hauran d’indicar l'adreça de recollida. RNF de </a:t>
            </a:r>
            <a:r>
              <a:rPr lang="en" sz="1300" u="sng">
                <a:solidFill>
                  <a:schemeClr val="dk1"/>
                </a:solidFill>
              </a:rPr>
              <a:t>Restricció de Disseny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-1-05: </a:t>
            </a:r>
            <a:r>
              <a:rPr lang="en" sz="1300">
                <a:solidFill>
                  <a:schemeClr val="dk1"/>
                </a:solidFill>
              </a:rPr>
              <a:t>Els usuaris hauran de definir un nom d'usuari que no estigui repetit dins del sistema. RNF de </a:t>
            </a:r>
            <a:r>
              <a:rPr lang="en" sz="1300" u="sng">
                <a:solidFill>
                  <a:schemeClr val="dk1"/>
                </a:solidFill>
              </a:rPr>
              <a:t>Restricció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-1-06: </a:t>
            </a:r>
            <a:r>
              <a:rPr lang="en" sz="1300">
                <a:solidFill>
                  <a:schemeClr val="dk1"/>
                </a:solidFill>
              </a:rPr>
              <a:t>El nom d’usuari ha de tenir més de 5 caràcters.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-1-07: </a:t>
            </a:r>
            <a:r>
              <a:rPr lang="en" sz="1300">
                <a:solidFill>
                  <a:schemeClr val="dk1"/>
                </a:solidFill>
              </a:rPr>
              <a:t>La contrasenya ha de tenir més de 8 caràcters, tenir 2 majúscules i més de 2 caràcters especials.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RF-1-08: </a:t>
            </a:r>
            <a:r>
              <a:rPr lang="en" sz="1300">
                <a:solidFill>
                  <a:schemeClr val="dk1"/>
                </a:solidFill>
              </a:rPr>
              <a:t>El perfil s’ha de poder actualitzar.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RF-1-09: </a:t>
            </a:r>
            <a:r>
              <a:rPr lang="en" sz="1300">
                <a:solidFill>
                  <a:schemeClr val="dk1"/>
                </a:solidFill>
              </a:rPr>
              <a:t>El perfil s’ha d’eliminar quan el donem de baixa.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RF-1-10: </a:t>
            </a:r>
            <a:r>
              <a:rPr lang="en" sz="1300">
                <a:solidFill>
                  <a:schemeClr val="dk1"/>
                </a:solidFill>
              </a:rPr>
              <a:t>S’ha d’indicar el tipus de compte que es vol crear (client, repartidor o cuiner).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-1-11: </a:t>
            </a:r>
            <a:r>
              <a:rPr lang="en" sz="1300">
                <a:solidFill>
                  <a:schemeClr val="dk1"/>
                </a:solidFill>
              </a:rPr>
              <a:t>Els rols que s'han assumit es poden modificar en qualsevol moment.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RF-1-12: </a:t>
            </a:r>
            <a:r>
              <a:rPr lang="en" sz="1300">
                <a:solidFill>
                  <a:schemeClr val="dk1"/>
                </a:solidFill>
              </a:rPr>
              <a:t>Es poden indicar restriccions alimentàries al perfil.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-1-13: </a:t>
            </a:r>
            <a:r>
              <a:rPr lang="en" sz="1300">
                <a:solidFill>
                  <a:schemeClr val="dk1"/>
                </a:solidFill>
              </a:rPr>
              <a:t>El cuiner i el repartidor han de tenir un compte bancari associat al seu perfil d'usuari. RNF de </a:t>
            </a:r>
            <a:r>
              <a:rPr lang="en" sz="1300" u="sng">
                <a:solidFill>
                  <a:schemeClr val="dk1"/>
                </a:solidFill>
              </a:rPr>
              <a:t>Restricció de Disseny, seguretat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214796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GRUP 1: GESTIÓ DE COMPTES I CREACIÓ DE PERFILS D'USUARI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F0000"/>
                </a:solidFill>
              </a:rPr>
              <a:t>Modificat</a:t>
            </a:r>
            <a:r>
              <a:rPr b="1" lang="en" sz="1800" u="sng">
                <a:solidFill>
                  <a:srgbClr val="FF0000"/>
                </a:solidFill>
              </a:rPr>
              <a:t>!!!</a:t>
            </a:r>
            <a:endParaRPr b="1" sz="1800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➔"/>
            </a:pPr>
            <a:r>
              <a:rPr b="1" lang="en" sz="1800" u="sng">
                <a:solidFill>
                  <a:schemeClr val="dk1"/>
                </a:solidFill>
              </a:rPr>
              <a:t>RNF</a:t>
            </a:r>
            <a:r>
              <a:rPr b="1" lang="en" sz="1800">
                <a:solidFill>
                  <a:schemeClr val="dk1"/>
                </a:solidFill>
              </a:rPr>
              <a:t>-1-04: </a:t>
            </a:r>
            <a:r>
              <a:rPr lang="en" sz="1800">
                <a:solidFill>
                  <a:schemeClr val="dk1"/>
                </a:solidFill>
              </a:rPr>
              <a:t>Els usuaris hauran d’indicar l'adreça de recollida. RNF de </a:t>
            </a:r>
            <a:r>
              <a:rPr lang="en" sz="1800" u="sng">
                <a:solidFill>
                  <a:schemeClr val="dk1"/>
                </a:solidFill>
              </a:rPr>
              <a:t>Restricció de Disseny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➔"/>
            </a:pPr>
            <a:r>
              <a:rPr b="1" lang="en" sz="1800" u="sng">
                <a:solidFill>
                  <a:schemeClr val="dk1"/>
                </a:solidFill>
              </a:rPr>
              <a:t>RNF</a:t>
            </a:r>
            <a:r>
              <a:rPr b="1" lang="en" sz="1800">
                <a:solidFill>
                  <a:schemeClr val="dk1"/>
                </a:solidFill>
              </a:rPr>
              <a:t>-1-05: </a:t>
            </a:r>
            <a:r>
              <a:rPr lang="en" sz="1800">
                <a:solidFill>
                  <a:schemeClr val="dk1"/>
                </a:solidFill>
              </a:rPr>
              <a:t>Els usuaris hauran de definir un nom d'usuari que no estigui repetit dins del sistema. RNF de </a:t>
            </a:r>
            <a:r>
              <a:rPr lang="en" sz="1800" u="sng">
                <a:solidFill>
                  <a:schemeClr val="dk1"/>
                </a:solidFill>
              </a:rPr>
              <a:t>Restricció de Disseny</a:t>
            </a:r>
            <a:r>
              <a:rPr lang="en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GRUP 2: REALITZACIÓ DE COMANDES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RF-2-01: </a:t>
            </a:r>
            <a:r>
              <a:rPr lang="en" sz="1300">
                <a:solidFill>
                  <a:schemeClr val="dk1"/>
                </a:solidFill>
              </a:rPr>
              <a:t>Els clients poden consultar tots els plats i menús que són oferits en el moment.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-2-02: </a:t>
            </a:r>
            <a:r>
              <a:rPr lang="en" sz="1300">
                <a:solidFill>
                  <a:schemeClr val="dk1"/>
                </a:solidFill>
              </a:rPr>
              <a:t>Es mostraran primer els plats i menús que compleixen amb les restriccions alimentàries indicades al perfil.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-2-03: </a:t>
            </a:r>
            <a:r>
              <a:rPr lang="en" sz="1300">
                <a:solidFill>
                  <a:schemeClr val="dk1"/>
                </a:solidFill>
              </a:rPr>
              <a:t>També es visualitza el temps estimat d'entrega. RNF d’</a:t>
            </a:r>
            <a:r>
              <a:rPr lang="en" sz="1300" u="sng">
                <a:solidFill>
                  <a:schemeClr val="dk1"/>
                </a:solidFill>
              </a:rPr>
              <a:t>Interfície Externa</a:t>
            </a:r>
            <a:r>
              <a:rPr lang="en" sz="1300">
                <a:solidFill>
                  <a:schemeClr val="dk1"/>
                </a:solidFill>
              </a:rPr>
              <a:t>.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RF-2-04: </a:t>
            </a:r>
            <a:r>
              <a:rPr lang="en" sz="1300">
                <a:solidFill>
                  <a:schemeClr val="dk1"/>
                </a:solidFill>
              </a:rPr>
              <a:t>Els usuaris poden escollir entre dues vistes: Un llistat de plats i menús, o un llistat dels usuaris que ofereixen serveis en aquell moment, dels quals el client pot veure els plats oferits.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-2-05: </a:t>
            </a:r>
            <a:r>
              <a:rPr lang="en" sz="1300">
                <a:solidFill>
                  <a:schemeClr val="dk1"/>
                </a:solidFill>
              </a:rPr>
              <a:t>Les dues llistes seran ordenades segons la distància física entre client i cuiner.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RF-2-06: </a:t>
            </a:r>
            <a:r>
              <a:rPr lang="en" sz="1300">
                <a:solidFill>
                  <a:schemeClr val="dk1"/>
                </a:solidFill>
              </a:rPr>
              <a:t>Els clients poden cercar per nom un plat o cuiner específics i reservar una comanda per a una hora en què el cuiner estigui disponible.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RF-2-07: </a:t>
            </a:r>
            <a:r>
              <a:rPr lang="en" sz="1300">
                <a:solidFill>
                  <a:schemeClr val="dk1"/>
                </a:solidFill>
              </a:rPr>
              <a:t>Els cuiners poden indicar l'hora en què poden acceptar comandes.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-2-08: </a:t>
            </a:r>
            <a:r>
              <a:rPr lang="en" sz="1300">
                <a:solidFill>
                  <a:schemeClr val="dk1"/>
                </a:solidFill>
              </a:rPr>
              <a:t>Els cuiners poden aparèixer en el llistat com a no disponibles. RNF de </a:t>
            </a:r>
            <a:r>
              <a:rPr lang="en" sz="1300" u="sng">
                <a:solidFill>
                  <a:schemeClr val="dk1"/>
                </a:solidFill>
              </a:rPr>
              <a:t>Decisió de Disseny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RF-2-09: </a:t>
            </a:r>
            <a:r>
              <a:rPr lang="en" sz="1300">
                <a:solidFill>
                  <a:schemeClr val="dk1"/>
                </a:solidFill>
              </a:rPr>
              <a:t>Els usuaris poden consultar els al·lèrgens i ingredients que contenen els plats i modificar els ingredients indicats com a opcionals per l'autor de la recepta.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1"/>
                </a:solidFill>
              </a:rPr>
              <a:t>RNF</a:t>
            </a:r>
            <a:r>
              <a:rPr b="1" lang="en" sz="1300">
                <a:solidFill>
                  <a:schemeClr val="dk1"/>
                </a:solidFill>
              </a:rPr>
              <a:t>-2-10: </a:t>
            </a:r>
            <a:r>
              <a:rPr lang="en" sz="1300">
                <a:solidFill>
                  <a:schemeClr val="dk1"/>
                </a:solidFill>
              </a:rPr>
              <a:t>Un mateix client no podrà tenir més de tres comandes actives alhora. RNF de </a:t>
            </a:r>
            <a:r>
              <a:rPr lang="en" sz="1300" u="sng">
                <a:solidFill>
                  <a:schemeClr val="dk1"/>
                </a:solidFill>
              </a:rPr>
              <a:t>Rendiment estàtic</a:t>
            </a:r>
            <a:r>
              <a:rPr lang="en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RF-2-11:</a:t>
            </a:r>
            <a:r>
              <a:rPr lang="en" sz="1300">
                <a:solidFill>
                  <a:schemeClr val="dk1"/>
                </a:solidFill>
              </a:rPr>
              <a:t> Els clients podran consultar el seu historial de comandes, i repetir una comanda prèvia si està disponible en el moment.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RF-2-12: </a:t>
            </a:r>
            <a:r>
              <a:rPr lang="en" sz="1300">
                <a:solidFill>
                  <a:schemeClr val="dk1"/>
                </a:solidFill>
              </a:rPr>
              <a:t>Si es fan comandes es guanyen punts que serveixen per a obtenir descomptes.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72" name="Google Shape;172;p29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GRUP 2: REALITZACIÓ DE COMANDES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F0000"/>
                </a:solidFill>
              </a:rPr>
              <a:t>Modificat!!!</a:t>
            </a:r>
            <a:endParaRPr b="1" sz="1800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➔"/>
            </a:pPr>
            <a:r>
              <a:rPr b="1" lang="en" sz="1800">
                <a:solidFill>
                  <a:schemeClr val="dk1"/>
                </a:solidFill>
              </a:rPr>
              <a:t>RF-2-07: </a:t>
            </a:r>
            <a:r>
              <a:rPr lang="en" sz="1800">
                <a:solidFill>
                  <a:schemeClr val="dk1"/>
                </a:solidFill>
              </a:rPr>
              <a:t>Els cuiners poden indicar l'hora en què poden acceptar comandes.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➔"/>
            </a:pPr>
            <a:r>
              <a:rPr b="1" lang="en" sz="1800" u="sng">
                <a:solidFill>
                  <a:schemeClr val="dk1"/>
                </a:solidFill>
              </a:rPr>
              <a:t>RNF</a:t>
            </a:r>
            <a:r>
              <a:rPr b="1" lang="en" sz="1800">
                <a:solidFill>
                  <a:schemeClr val="dk1"/>
                </a:solidFill>
              </a:rPr>
              <a:t>-2-08: </a:t>
            </a:r>
            <a:r>
              <a:rPr lang="en" sz="1800">
                <a:solidFill>
                  <a:schemeClr val="dk1"/>
                </a:solidFill>
              </a:rPr>
              <a:t>Els cuiners poden aparèixer en el llistat com a no disponibles. RNF de </a:t>
            </a:r>
            <a:r>
              <a:rPr lang="en" sz="1800" u="sng">
                <a:solidFill>
                  <a:schemeClr val="dk1"/>
                </a:solidFill>
              </a:rPr>
              <a:t>Decisió de Disseny</a:t>
            </a:r>
            <a:r>
              <a:rPr lang="en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78" name="Google Shape;178;p30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GRUP 3: ENVIAMENT DE COMANDES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RF-3-01: </a:t>
            </a:r>
            <a:r>
              <a:rPr lang="en" sz="1600">
                <a:solidFill>
                  <a:schemeClr val="dk1"/>
                </a:solidFill>
              </a:rPr>
              <a:t>Es pot escollir entre tres tipus d’enviament (que l’enviï el cuiner, un repartidor, o que el busqui el client).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FF0000"/>
                </a:solidFill>
              </a:rPr>
              <a:t>(Modificat!!!)</a:t>
            </a:r>
            <a:r>
              <a:rPr b="1" lang="en" sz="1600">
                <a:solidFill>
                  <a:srgbClr val="FF0000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RF-3-02: </a:t>
            </a:r>
            <a:r>
              <a:rPr lang="en" sz="1600">
                <a:solidFill>
                  <a:schemeClr val="dk1"/>
                </a:solidFill>
              </a:rPr>
              <a:t>El cost de l’enviament es calcula segons la distància entre el cuiner i el lloc de lliurament, sent gratuït si el client recull la comanda al domicili del cuiner.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RF-3-03: </a:t>
            </a:r>
            <a:r>
              <a:rPr lang="en" sz="1600">
                <a:solidFill>
                  <a:schemeClr val="dk1"/>
                </a:solidFill>
              </a:rPr>
              <a:t>El client pot seguir el progrés de l’entrega un cop l’enviament ha començat.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RNF</a:t>
            </a:r>
            <a:r>
              <a:rPr b="1" lang="en" sz="1600">
                <a:solidFill>
                  <a:schemeClr val="dk1"/>
                </a:solidFill>
              </a:rPr>
              <a:t>-3-04: </a:t>
            </a:r>
            <a:r>
              <a:rPr lang="en" sz="1600">
                <a:solidFill>
                  <a:schemeClr val="dk1"/>
                </a:solidFill>
              </a:rPr>
              <a:t>La posició del repartidor es mostra en un mapa utilitzant la interfície de Google Maps. RNF d’</a:t>
            </a:r>
            <a:r>
              <a:rPr lang="en" sz="1600" u="sng">
                <a:solidFill>
                  <a:schemeClr val="dk1"/>
                </a:solidFill>
              </a:rPr>
              <a:t>Interfícies Externes.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GRUP 4: PAGAMENT DE LA COMANDA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FF0000"/>
                </a:solidFill>
              </a:rPr>
              <a:t>(Modificat!!!)</a:t>
            </a:r>
            <a:r>
              <a:rPr b="1" lang="en" sz="1600">
                <a:solidFill>
                  <a:srgbClr val="00FFFF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RF-4-01: </a:t>
            </a:r>
            <a:r>
              <a:rPr lang="en" sz="1600">
                <a:solidFill>
                  <a:schemeClr val="dk1"/>
                </a:solidFill>
              </a:rPr>
              <a:t>El cuiner i repartidor reben l’ingrés de la comanda un cop s’ha pagat a la mateixa aplicació amb targeta bancària o PayPal</a:t>
            </a:r>
            <a:r>
              <a:rPr b="1" lang="en" sz="1600">
                <a:solidFill>
                  <a:schemeClr val="dk1"/>
                </a:solidFill>
              </a:rPr>
              <a:t>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RNF</a:t>
            </a:r>
            <a:r>
              <a:rPr b="1" lang="en" sz="1600">
                <a:solidFill>
                  <a:schemeClr val="dk1"/>
                </a:solidFill>
              </a:rPr>
              <a:t>-4-02: </a:t>
            </a:r>
            <a:r>
              <a:rPr lang="en" sz="1600">
                <a:solidFill>
                  <a:schemeClr val="dk1"/>
                </a:solidFill>
              </a:rPr>
              <a:t>El sistema s'ha de connectar amb la plataforma de pagament corresponent per autenticar les dades i confirmar la transacció. RNF d’</a:t>
            </a:r>
            <a:r>
              <a:rPr lang="en" sz="1600" u="sng">
                <a:solidFill>
                  <a:schemeClr val="dk1"/>
                </a:solidFill>
              </a:rPr>
              <a:t>Interfícies Externes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90" name="Google Shape;190;p32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GRUP 5: VALORACIÓ DE LA COMANDA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FF0000"/>
                </a:solidFill>
              </a:rPr>
              <a:t>(Modificat!!!)</a:t>
            </a:r>
            <a:r>
              <a:rPr b="1" lang="en" sz="1600">
                <a:solidFill>
                  <a:schemeClr val="dk1"/>
                </a:solidFill>
              </a:rPr>
              <a:t> RF-5-01: </a:t>
            </a:r>
            <a:r>
              <a:rPr lang="en" sz="1600">
                <a:solidFill>
                  <a:schemeClr val="dk1"/>
                </a:solidFill>
              </a:rPr>
              <a:t>El cuiner té associades unes valoracions les quals són escrites pels clients que reben comandes seves, amb camps com “puntualitat” o “estat del menjar”.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RNF</a:t>
            </a:r>
            <a:r>
              <a:rPr b="1" lang="en" sz="1600">
                <a:solidFill>
                  <a:schemeClr val="dk1"/>
                </a:solidFill>
              </a:rPr>
              <a:t>-5-02: </a:t>
            </a:r>
            <a:r>
              <a:rPr lang="en" sz="1600">
                <a:solidFill>
                  <a:schemeClr val="dk1"/>
                </a:solidFill>
              </a:rPr>
              <a:t>Els cuiners recomanats s’ordenen segons la seva valoració (a valoració més alta, més amunt apareixen). RNF de </a:t>
            </a:r>
            <a:r>
              <a:rPr lang="en" sz="1600" u="sng">
                <a:solidFill>
                  <a:schemeClr val="dk1"/>
                </a:solidFill>
              </a:rPr>
              <a:t>Decisió de Disseny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196" name="Google Shape;196;p33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GRUP 6: FUNCIONALITATS ADDICIONALS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RF-6-01: </a:t>
            </a:r>
            <a:r>
              <a:rPr lang="en" sz="1600">
                <a:solidFill>
                  <a:schemeClr val="dk1"/>
                </a:solidFill>
              </a:rPr>
              <a:t>Els clients poden proposar els plats que volen consumir i aquests s'afegeixen a un menú específic on un cuiner els accepta.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RNF</a:t>
            </a:r>
            <a:r>
              <a:rPr b="1" lang="en" sz="1600">
                <a:solidFill>
                  <a:schemeClr val="dk1"/>
                </a:solidFill>
              </a:rPr>
              <a:t>-6-02: </a:t>
            </a:r>
            <a:r>
              <a:rPr lang="en" sz="1600">
                <a:solidFill>
                  <a:schemeClr val="dk1"/>
                </a:solidFill>
              </a:rPr>
              <a:t>Només els cuiners poden accedir al menú específic. RNF de </a:t>
            </a:r>
            <a:r>
              <a:rPr lang="en" sz="1600" u="sng">
                <a:solidFill>
                  <a:schemeClr val="dk1"/>
                </a:solidFill>
              </a:rPr>
              <a:t>Restricció de Disseny, seguretat.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RF-6-03: </a:t>
            </a:r>
            <a:r>
              <a:rPr lang="en" sz="1600">
                <a:solidFill>
                  <a:schemeClr val="dk1"/>
                </a:solidFill>
              </a:rPr>
              <a:t>Hi ha xat client-cuiner per a garantir un bon servei.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RF-6-04: </a:t>
            </a:r>
            <a:r>
              <a:rPr lang="en" sz="1600">
                <a:solidFill>
                  <a:schemeClr val="dk1"/>
                </a:solidFill>
              </a:rPr>
              <a:t>Els usuaris es poden subscriure un pla mensual amb tarifa d'enviaments i sistema de punts.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Requisits</a:t>
            </a:r>
            <a:endParaRPr/>
          </a:p>
        </p:txBody>
      </p:sp>
      <p:sp>
        <p:nvSpPr>
          <p:cNvPr id="202" name="Google Shape;202;p34"/>
          <p:cNvSpPr txBox="1"/>
          <p:nvPr/>
        </p:nvSpPr>
        <p:spPr>
          <a:xfrm>
            <a:off x="228600" y="801300"/>
            <a:ext cx="86868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GRUP 7: ALTRES CONSIDERACIONS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-7-01: </a:t>
            </a:r>
            <a:r>
              <a:rPr lang="en">
                <a:solidFill>
                  <a:schemeClr val="dk1"/>
                </a:solidFill>
              </a:rPr>
              <a:t>Es farà servir a l'àrea metropolitana de Barcelona. RNF de </a:t>
            </a:r>
            <a:r>
              <a:rPr lang="en" u="sng">
                <a:solidFill>
                  <a:schemeClr val="dk1"/>
                </a:solidFill>
              </a:rPr>
              <a:t>Restricció de Disseny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-7-02: </a:t>
            </a:r>
            <a:r>
              <a:rPr lang="en">
                <a:solidFill>
                  <a:schemeClr val="dk1"/>
                </a:solidFill>
              </a:rPr>
              <a:t>La interfície serà trilingüe: Espanyol, Català i Anglès. RNF d’</a:t>
            </a:r>
            <a:r>
              <a:rPr lang="en" u="sng">
                <a:solidFill>
                  <a:schemeClr val="dk1"/>
                </a:solidFill>
              </a:rPr>
              <a:t>Interfícies Externes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-7-03: </a:t>
            </a:r>
            <a:r>
              <a:rPr lang="en">
                <a:solidFill>
                  <a:schemeClr val="dk1"/>
                </a:solidFill>
              </a:rPr>
              <a:t>Apte tant per a Web com per a Mòbil. RNF d’Interfícies Externes.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-7-04: </a:t>
            </a:r>
            <a:r>
              <a:rPr lang="en">
                <a:solidFill>
                  <a:schemeClr val="dk1"/>
                </a:solidFill>
              </a:rPr>
              <a:t>Els Mòbils hauran de tenir sistema operatiu iOS o Android. RNF de </a:t>
            </a:r>
            <a:r>
              <a:rPr lang="en" u="sng">
                <a:solidFill>
                  <a:schemeClr val="dk1"/>
                </a:solidFill>
              </a:rPr>
              <a:t>Restricció de Disseny, limitació de Hw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-7-05: </a:t>
            </a:r>
            <a:r>
              <a:rPr lang="en">
                <a:solidFill>
                  <a:schemeClr val="dk1"/>
                </a:solidFill>
              </a:rPr>
              <a:t>Lletra Calibri tant a encapçalaments com per a la resta de continguts. </a:t>
            </a:r>
            <a:r>
              <a:rPr lang="en" u="sng">
                <a:solidFill>
                  <a:schemeClr val="dk1"/>
                </a:solidFill>
              </a:rPr>
              <a:t>RNF d’Interfícies Externes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-7-06: </a:t>
            </a:r>
            <a:r>
              <a:rPr lang="en">
                <a:solidFill>
                  <a:schemeClr val="dk1"/>
                </a:solidFill>
              </a:rPr>
              <a:t>Color corporatiu taronja i  El logo ha d'aparèixer a totes les pantalles. RNF d’</a:t>
            </a:r>
            <a:r>
              <a:rPr lang="en" u="sng">
                <a:solidFill>
                  <a:schemeClr val="dk1"/>
                </a:solidFill>
              </a:rPr>
              <a:t>Interfícies Externes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-7-07: </a:t>
            </a:r>
            <a:r>
              <a:rPr lang="en">
                <a:solidFill>
                  <a:schemeClr val="dk1"/>
                </a:solidFill>
              </a:rPr>
              <a:t>L’aplicació ha de suportar 1000 usuaris connectats alhora. RNF de </a:t>
            </a:r>
            <a:r>
              <a:rPr lang="en" u="sng">
                <a:solidFill>
                  <a:schemeClr val="dk1"/>
                </a:solidFill>
              </a:rPr>
              <a:t>Rendiment estàtic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-7-08: </a:t>
            </a:r>
            <a:r>
              <a:rPr lang="en">
                <a:solidFill>
                  <a:schemeClr val="dk1"/>
                </a:solidFill>
              </a:rPr>
              <a:t>El temps màxim de resposta de l’aplicació ha de ser de 5 mil·lisegons. RNF de </a:t>
            </a:r>
            <a:r>
              <a:rPr lang="en" u="sng">
                <a:solidFill>
                  <a:schemeClr val="dk1"/>
                </a:solidFill>
              </a:rPr>
              <a:t>Rendiment dinàmic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-7-09: </a:t>
            </a:r>
            <a:r>
              <a:rPr lang="en">
                <a:solidFill>
                  <a:schemeClr val="dk1"/>
                </a:solidFill>
              </a:rPr>
              <a:t>Per a encriptar dades es farà servir el protocol OpenVPN. RNF de </a:t>
            </a:r>
            <a:r>
              <a:rPr lang="en" u="sng">
                <a:solidFill>
                  <a:schemeClr val="dk1"/>
                </a:solidFill>
              </a:rPr>
              <a:t>Decisió de Disseny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RNF</a:t>
            </a:r>
            <a:r>
              <a:rPr b="1" lang="en">
                <a:solidFill>
                  <a:schemeClr val="dk1"/>
                </a:solidFill>
              </a:rPr>
              <a:t>-7-10: </a:t>
            </a:r>
            <a:r>
              <a:rPr lang="en">
                <a:solidFill>
                  <a:schemeClr val="dk1"/>
                </a:solidFill>
              </a:rPr>
              <a:t>Interfície amigable i responsive. RNF d'</a:t>
            </a:r>
            <a:r>
              <a:rPr lang="en" u="sng">
                <a:solidFill>
                  <a:schemeClr val="dk1"/>
                </a:solidFill>
              </a:rPr>
              <a:t>Objectius de Disseny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Burn-down chart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271" y="972326"/>
            <a:ext cx="2987298" cy="355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444" y="972326"/>
            <a:ext cx="3145298" cy="355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