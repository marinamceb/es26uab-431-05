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Hind"/>
      <p:regular r:id="rId18"/>
      <p:bold r:id="rId19"/>
    </p:embeddedFont>
    <p:embeddedFont>
      <p:font typeface="Space Grotesk Medium"/>
      <p:regular r:id="rId20"/>
      <p:bold r:id="rId21"/>
    </p:embeddedFont>
    <p:embeddedFont>
      <p:font typeface="Space Grotesk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Marina Martí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paceGroteskMedium-regular.fntdata"/><Relationship Id="rId11" Type="http://schemas.openxmlformats.org/officeDocument/2006/relationships/slide" Target="slides/slide6.xml"/><Relationship Id="rId22" Type="http://schemas.openxmlformats.org/officeDocument/2006/relationships/font" Target="fonts/SpaceGrotesk-regular.fntdata"/><Relationship Id="rId10" Type="http://schemas.openxmlformats.org/officeDocument/2006/relationships/slide" Target="slides/slide5.xml"/><Relationship Id="rId21" Type="http://schemas.openxmlformats.org/officeDocument/2006/relationships/font" Target="fonts/SpaceGroteskMedium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SpaceGrotesk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Hind-bold.fntdata"/><Relationship Id="rId6" Type="http://schemas.openxmlformats.org/officeDocument/2006/relationships/slide" Target="slides/slide1.xml"/><Relationship Id="rId18" Type="http://schemas.openxmlformats.org/officeDocument/2006/relationships/font" Target="fonts/Hind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3-15T11:01:39.703">
    <p:pos x="6000" y="0"/>
    <p:text>Tasques: 
- Identificar requisits
- Identificar perfils d'usuari
- Escriure-ho al doc d'especificacions
- Escriure-ho al powepoint
- Fer els .md de cada requisit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f70ef3b9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cf70ef3b9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cf70ef3b9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cf70ef3b9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02b60795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02b60795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f70ef3b9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f70ef3b9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6060f51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6060f51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6060f51c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96060f51c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96060f51c5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96060f51c5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96060f51c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96060f51c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6060f51c5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6060f51c5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96060f51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96060f51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f70ef3b9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f70ef3b9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44415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7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766500"/>
            <a:ext cx="6204300" cy="293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7263300" y="803100"/>
            <a:ext cx="1652100" cy="1108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228600" y="3940200"/>
            <a:ext cx="6505200" cy="40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subTitle"/>
          </p:nvPr>
        </p:nvSpPr>
        <p:spPr>
          <a:xfrm>
            <a:off x="4408725" y="3456300"/>
            <a:ext cx="45066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2" type="subTitle"/>
          </p:nvPr>
        </p:nvSpPr>
        <p:spPr>
          <a:xfrm>
            <a:off x="228622" y="1397700"/>
            <a:ext cx="86868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3" type="subTitle"/>
          </p:nvPr>
        </p:nvSpPr>
        <p:spPr>
          <a:xfrm>
            <a:off x="228600" y="1042800"/>
            <a:ext cx="8686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3" name="Google Shape;23;p5"/>
          <p:cNvSpPr txBox="1"/>
          <p:nvPr>
            <p:ph idx="4" type="subTitle"/>
          </p:nvPr>
        </p:nvSpPr>
        <p:spPr>
          <a:xfrm>
            <a:off x="4408771" y="3101400"/>
            <a:ext cx="45066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4" name="Google Shape;24;p5"/>
          <p:cNvSpPr/>
          <p:nvPr>
            <p:ph idx="5" type="pic"/>
          </p:nvPr>
        </p:nvSpPr>
        <p:spPr>
          <a:xfrm flipH="1">
            <a:off x="228599" y="2807700"/>
            <a:ext cx="3693600" cy="1865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4" name="Google Shape;34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hasCustomPrompt="1" type="title"/>
          </p:nvPr>
        </p:nvSpPr>
        <p:spPr>
          <a:xfrm>
            <a:off x="228600" y="1313400"/>
            <a:ext cx="6576000" cy="132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74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0" name="Google Shape;40;p11"/>
          <p:cNvSpPr txBox="1"/>
          <p:nvPr>
            <p:ph idx="1" type="subTitle"/>
          </p:nvPr>
        </p:nvSpPr>
        <p:spPr>
          <a:xfrm>
            <a:off x="4803000" y="3399000"/>
            <a:ext cx="41124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hasCustomPrompt="1" idx="2" type="title"/>
          </p:nvPr>
        </p:nvSpPr>
        <p:spPr>
          <a:xfrm>
            <a:off x="228600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5" name="Google Shape;45;p13"/>
          <p:cNvSpPr txBox="1"/>
          <p:nvPr>
            <p:ph hasCustomPrompt="1" idx="3" type="title"/>
          </p:nvPr>
        </p:nvSpPr>
        <p:spPr>
          <a:xfrm>
            <a:off x="228600" y="228056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6" name="Google Shape;46;p13"/>
          <p:cNvSpPr txBox="1"/>
          <p:nvPr>
            <p:ph hasCustomPrompt="1" idx="4" type="title"/>
          </p:nvPr>
        </p:nvSpPr>
        <p:spPr>
          <a:xfrm>
            <a:off x="2751896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7" name="Google Shape;47;p13"/>
          <p:cNvSpPr txBox="1"/>
          <p:nvPr>
            <p:ph hasCustomPrompt="1" idx="5" type="title"/>
          </p:nvPr>
        </p:nvSpPr>
        <p:spPr>
          <a:xfrm>
            <a:off x="2751896" y="228057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" name="Google Shape;48;p13"/>
          <p:cNvSpPr txBox="1"/>
          <p:nvPr>
            <p:ph hasCustomPrompt="1" idx="6" type="title"/>
          </p:nvPr>
        </p:nvSpPr>
        <p:spPr>
          <a:xfrm>
            <a:off x="228599" y="366519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/>
          <p:nvPr>
            <p:ph hasCustomPrompt="1" idx="7" type="title"/>
          </p:nvPr>
        </p:nvSpPr>
        <p:spPr>
          <a:xfrm>
            <a:off x="2751899" y="3665211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0" name="Google Shape;50;p13"/>
          <p:cNvSpPr txBox="1"/>
          <p:nvPr>
            <p:ph idx="1" type="subTitle"/>
          </p:nvPr>
        </p:nvSpPr>
        <p:spPr>
          <a:xfrm>
            <a:off x="2286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1" name="Google Shape;51;p13"/>
          <p:cNvSpPr txBox="1"/>
          <p:nvPr>
            <p:ph idx="8" type="subTitle"/>
          </p:nvPr>
        </p:nvSpPr>
        <p:spPr>
          <a:xfrm>
            <a:off x="27519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9" type="subTitle"/>
          </p:nvPr>
        </p:nvSpPr>
        <p:spPr>
          <a:xfrm>
            <a:off x="228600" y="414310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3" type="subTitle"/>
          </p:nvPr>
        </p:nvSpPr>
        <p:spPr>
          <a:xfrm>
            <a:off x="2286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4" type="subTitle"/>
          </p:nvPr>
        </p:nvSpPr>
        <p:spPr>
          <a:xfrm>
            <a:off x="27519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5" type="subTitle"/>
          </p:nvPr>
        </p:nvSpPr>
        <p:spPr>
          <a:xfrm>
            <a:off x="2751900" y="4143202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6" name="Google Shape;56;p13"/>
          <p:cNvSpPr/>
          <p:nvPr>
            <p:ph idx="16" type="pic"/>
          </p:nvPr>
        </p:nvSpPr>
        <p:spPr>
          <a:xfrm>
            <a:off x="5655325" y="895950"/>
            <a:ext cx="3260100" cy="4018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title"/>
          </p:nvPr>
        </p:nvSpPr>
        <p:spPr>
          <a:xfrm>
            <a:off x="228600" y="888300"/>
            <a:ext cx="7496100" cy="15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2528775" y="2624550"/>
            <a:ext cx="6387300" cy="16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228600" y="228600"/>
            <a:ext cx="4263000" cy="98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228600" y="2215200"/>
            <a:ext cx="4356000" cy="26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4778100" y="228600"/>
            <a:ext cx="4137300" cy="4686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4778050" y="1334504"/>
            <a:ext cx="4137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2" type="subTitle"/>
          </p:nvPr>
        </p:nvSpPr>
        <p:spPr>
          <a:xfrm>
            <a:off x="4778050" y="2666116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3" type="subTitle"/>
          </p:nvPr>
        </p:nvSpPr>
        <p:spPr>
          <a:xfrm>
            <a:off x="4778050" y="3997725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4" type="subTitle"/>
          </p:nvPr>
        </p:nvSpPr>
        <p:spPr>
          <a:xfrm>
            <a:off x="4778050" y="979600"/>
            <a:ext cx="41373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0" name="Google Shape;70;p16"/>
          <p:cNvSpPr txBox="1"/>
          <p:nvPr>
            <p:ph idx="5" type="subTitle"/>
          </p:nvPr>
        </p:nvSpPr>
        <p:spPr>
          <a:xfrm>
            <a:off x="4778050" y="231120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6" type="subTitle"/>
          </p:nvPr>
        </p:nvSpPr>
        <p:spPr>
          <a:xfrm>
            <a:off x="4778050" y="364281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2" name="Google Shape;72;p16"/>
          <p:cNvSpPr/>
          <p:nvPr>
            <p:ph idx="7" type="pic"/>
          </p:nvPr>
        </p:nvSpPr>
        <p:spPr>
          <a:xfrm>
            <a:off x="228600" y="891600"/>
            <a:ext cx="3602700" cy="4023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subTitle"/>
          </p:nvPr>
        </p:nvSpPr>
        <p:spPr>
          <a:xfrm>
            <a:off x="513256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2" type="subTitle"/>
          </p:nvPr>
        </p:nvSpPr>
        <p:spPr>
          <a:xfrm>
            <a:off x="4727444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3" type="subTitle"/>
          </p:nvPr>
        </p:nvSpPr>
        <p:spPr>
          <a:xfrm>
            <a:off x="513256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4" type="subTitle"/>
          </p:nvPr>
        </p:nvSpPr>
        <p:spPr>
          <a:xfrm>
            <a:off x="4727444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5" type="subTitle"/>
          </p:nvPr>
        </p:nvSpPr>
        <p:spPr>
          <a:xfrm>
            <a:off x="513257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0" name="Google Shape;80;p17"/>
          <p:cNvSpPr txBox="1"/>
          <p:nvPr>
            <p:ph idx="6" type="subTitle"/>
          </p:nvPr>
        </p:nvSpPr>
        <p:spPr>
          <a:xfrm>
            <a:off x="513257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1" name="Google Shape;81;p17"/>
          <p:cNvSpPr txBox="1"/>
          <p:nvPr>
            <p:ph idx="7" type="subTitle"/>
          </p:nvPr>
        </p:nvSpPr>
        <p:spPr>
          <a:xfrm>
            <a:off x="4727408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8" type="subTitle"/>
          </p:nvPr>
        </p:nvSpPr>
        <p:spPr>
          <a:xfrm>
            <a:off x="4727408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228603" y="669425"/>
            <a:ext cx="5617500" cy="129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" type="subTitle"/>
          </p:nvPr>
        </p:nvSpPr>
        <p:spPr>
          <a:xfrm>
            <a:off x="228601" y="1962425"/>
            <a:ext cx="26058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/>
        </p:nvSpPr>
        <p:spPr>
          <a:xfrm>
            <a:off x="6732300" y="3519775"/>
            <a:ext cx="2183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This presentation template was created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</a:t>
            </a:r>
            <a:endParaRPr b="1" sz="1000" u="sng">
              <a:solidFill>
                <a:schemeClr val="dk1"/>
              </a:solidFill>
              <a:latin typeface="Hind"/>
              <a:ea typeface="Hind"/>
              <a:cs typeface="Hind"/>
              <a:sym typeface="Hind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sz="2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1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8.jpg"/><Relationship Id="rId5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Relationship Id="rId4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type="ctrTitle"/>
          </p:nvPr>
        </p:nvSpPr>
        <p:spPr>
          <a:xfrm>
            <a:off x="710400" y="80100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Enginyeria del Software</a:t>
            </a:r>
            <a:endParaRPr/>
          </a:p>
        </p:txBody>
      </p:sp>
      <p:sp>
        <p:nvSpPr>
          <p:cNvPr id="94" name="Google Shape;94;p21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Pràctiques: Grup 431-05</a:t>
            </a:r>
            <a:endParaRPr/>
          </a:p>
        </p:txBody>
      </p:sp>
      <p:sp>
        <p:nvSpPr>
          <p:cNvPr id="95" name="Google Shape;95;p21"/>
          <p:cNvSpPr txBox="1"/>
          <p:nvPr/>
        </p:nvSpPr>
        <p:spPr>
          <a:xfrm rot="-5400000">
            <a:off x="-300150" y="3975850"/>
            <a:ext cx="82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Curs 2025-2026</a:t>
            </a:r>
            <a:endParaRPr sz="800"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cxnSp>
        <p:nvCxnSpPr>
          <p:cNvPr id="96" name="Google Shape;96;p21"/>
          <p:cNvCxnSpPr>
            <a:stCxn id="95" idx="1"/>
          </p:cNvCxnSpPr>
          <p:nvPr/>
        </p:nvCxnSpPr>
        <p:spPr>
          <a:xfrm>
            <a:off x="114300" y="4451800"/>
            <a:ext cx="0" cy="749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" name="Google Shape;97;p21"/>
          <p:cNvCxnSpPr/>
          <p:nvPr/>
        </p:nvCxnSpPr>
        <p:spPr>
          <a:xfrm>
            <a:off x="5219400" y="3838650"/>
            <a:ext cx="3696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8" name="Google Shape;98;p21"/>
          <p:cNvSpPr txBox="1"/>
          <p:nvPr>
            <p:ph idx="1" type="subTitle"/>
          </p:nvPr>
        </p:nvSpPr>
        <p:spPr>
          <a:xfrm>
            <a:off x="2733000" y="342420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01: Requisits Funcionals i No Funcionals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>
            <p:ph type="title"/>
          </p:nvPr>
        </p:nvSpPr>
        <p:spPr>
          <a:xfrm>
            <a:off x="228600" y="1362172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Composició de l’equip</a:t>
            </a:r>
            <a:endParaRPr/>
          </a:p>
        </p:txBody>
      </p:sp>
      <p:sp>
        <p:nvSpPr>
          <p:cNvPr id="104" name="Google Shape;104;p22"/>
          <p:cNvSpPr txBox="1"/>
          <p:nvPr>
            <p:ph idx="4294967295" type="subTitle"/>
          </p:nvPr>
        </p:nvSpPr>
        <p:spPr>
          <a:xfrm>
            <a:off x="1354521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</a:t>
            </a:r>
            <a:r>
              <a:rPr lang="en"/>
              <a:t>rina Martín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(Scrum Master)</a:t>
            </a:r>
            <a:endParaRPr/>
          </a:p>
        </p:txBody>
      </p:sp>
      <p:sp>
        <p:nvSpPr>
          <p:cNvPr id="105" name="Google Shape;105;p22"/>
          <p:cNvSpPr txBox="1"/>
          <p:nvPr>
            <p:ph idx="4294967295" type="subTitle"/>
          </p:nvPr>
        </p:nvSpPr>
        <p:spPr>
          <a:xfrm>
            <a:off x="3053694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Ariadna Cano</a:t>
            </a:r>
            <a:endParaRPr/>
          </a:p>
        </p:txBody>
      </p:sp>
      <p:sp>
        <p:nvSpPr>
          <p:cNvPr id="106" name="Google Shape;106;p22"/>
          <p:cNvSpPr txBox="1"/>
          <p:nvPr>
            <p:ph idx="4294967295" type="subTitle"/>
          </p:nvPr>
        </p:nvSpPr>
        <p:spPr>
          <a:xfrm>
            <a:off x="4680462" y="3376316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Lucas Luna</a:t>
            </a:r>
            <a:endParaRPr/>
          </a:p>
        </p:txBody>
      </p:sp>
      <p:sp>
        <p:nvSpPr>
          <p:cNvPr id="107" name="Google Shape;107;p22"/>
          <p:cNvSpPr txBox="1"/>
          <p:nvPr>
            <p:ph idx="4294967295" type="subTitle"/>
          </p:nvPr>
        </p:nvSpPr>
        <p:spPr>
          <a:xfrm>
            <a:off x="6307194" y="3376323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Daria Radoi</a:t>
            </a:r>
            <a:endParaRPr/>
          </a:p>
        </p:txBody>
      </p:sp>
      <p:pic>
        <p:nvPicPr>
          <p:cNvPr id="108" name="Google Shape;10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0787" y="2257725"/>
            <a:ext cx="1068128" cy="1068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79763" y="2275875"/>
            <a:ext cx="1031826" cy="1031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2" title="IMG-20250713-WA0003.jpg"/>
          <p:cNvPicPr preferRelativeResize="0"/>
          <p:nvPr/>
        </p:nvPicPr>
        <p:blipFill rotWithShape="1">
          <a:blip r:embed="rId5">
            <a:alphaModFix/>
          </a:blip>
          <a:srcRect b="41890" l="20975" r="52416" t="38154"/>
          <a:stretch/>
        </p:blipFill>
        <p:spPr>
          <a:xfrm>
            <a:off x="3260775" y="2257725"/>
            <a:ext cx="1068150" cy="1068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2" title="WhatsApp Image 2026-03-15 at 17.03.54.jpeg"/>
          <p:cNvPicPr preferRelativeResize="0"/>
          <p:nvPr/>
        </p:nvPicPr>
        <p:blipFill rotWithShape="1">
          <a:blip r:embed="rId6">
            <a:alphaModFix/>
          </a:blip>
          <a:srcRect b="44864" l="43153" r="40663" t="42841"/>
          <a:stretch/>
        </p:blipFill>
        <p:spPr>
          <a:xfrm>
            <a:off x="6514275" y="2275875"/>
            <a:ext cx="1031826" cy="1045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2"/>
          <p:cNvPicPr preferRelativeResize="0"/>
          <p:nvPr/>
        </p:nvPicPr>
        <p:blipFill rotWithShape="1">
          <a:blip r:embed="rId7">
            <a:alphaModFix/>
          </a:blip>
          <a:srcRect b="53444" l="3895" r="56438" t="26495"/>
          <a:stretch/>
        </p:blipFill>
        <p:spPr>
          <a:xfrm>
            <a:off x="4932000" y="2241575"/>
            <a:ext cx="979193" cy="110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228750" y="903563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Tasques fetes al sprint</a:t>
            </a:r>
            <a:endParaRPr/>
          </a:p>
        </p:txBody>
      </p:sp>
      <p:sp>
        <p:nvSpPr>
          <p:cNvPr id="118" name="Google Shape;118;p23"/>
          <p:cNvSpPr txBox="1"/>
          <p:nvPr>
            <p:ph idx="1" type="subTitle"/>
          </p:nvPr>
        </p:nvSpPr>
        <p:spPr>
          <a:xfrm>
            <a:off x="513206" y="2912938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(i escriure’ls al Document d’Especificacions)</a:t>
            </a:r>
            <a:endParaRPr/>
          </a:p>
        </p:txBody>
      </p:sp>
      <p:sp>
        <p:nvSpPr>
          <p:cNvPr id="119" name="Google Shape;119;p23"/>
          <p:cNvSpPr txBox="1"/>
          <p:nvPr>
            <p:ph idx="2" type="subTitle"/>
          </p:nvPr>
        </p:nvSpPr>
        <p:spPr>
          <a:xfrm>
            <a:off x="4727394" y="2912938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(i escriure’ls al Document d’Especificacions)</a:t>
            </a:r>
            <a:endParaRPr/>
          </a:p>
        </p:txBody>
      </p:sp>
      <p:sp>
        <p:nvSpPr>
          <p:cNvPr id="120" name="Google Shape;120;p23"/>
          <p:cNvSpPr txBox="1"/>
          <p:nvPr>
            <p:ph idx="5" type="subTitle"/>
          </p:nvPr>
        </p:nvSpPr>
        <p:spPr>
          <a:xfrm>
            <a:off x="513207" y="2558038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3- Identificar Requisits</a:t>
            </a:r>
            <a:endParaRPr/>
          </a:p>
        </p:txBody>
      </p:sp>
      <p:sp>
        <p:nvSpPr>
          <p:cNvPr id="121" name="Google Shape;121;p23"/>
          <p:cNvSpPr txBox="1"/>
          <p:nvPr>
            <p:ph idx="6" type="subTitle"/>
          </p:nvPr>
        </p:nvSpPr>
        <p:spPr>
          <a:xfrm>
            <a:off x="513282" y="3580838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5- Passar-ho tot al Power Point</a:t>
            </a:r>
            <a:endParaRPr/>
          </a:p>
        </p:txBody>
      </p:sp>
      <p:sp>
        <p:nvSpPr>
          <p:cNvPr id="122" name="Google Shape;122;p23"/>
          <p:cNvSpPr txBox="1"/>
          <p:nvPr>
            <p:ph idx="7" type="subTitle"/>
          </p:nvPr>
        </p:nvSpPr>
        <p:spPr>
          <a:xfrm>
            <a:off x="4727358" y="2558038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4- Identificar perfils d’usuari</a:t>
            </a:r>
            <a:endParaRPr/>
          </a:p>
        </p:txBody>
      </p:sp>
      <p:sp>
        <p:nvSpPr>
          <p:cNvPr id="123" name="Google Shape;123;p23"/>
          <p:cNvSpPr txBox="1"/>
          <p:nvPr>
            <p:ph idx="8" type="subTitle"/>
          </p:nvPr>
        </p:nvSpPr>
        <p:spPr>
          <a:xfrm>
            <a:off x="4727425" y="3580838"/>
            <a:ext cx="3903300" cy="659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6- Fer el fitxer Markdown de cada requeriment</a:t>
            </a:r>
            <a:endParaRPr/>
          </a:p>
        </p:txBody>
      </p:sp>
      <p:sp>
        <p:nvSpPr>
          <p:cNvPr id="124" name="Google Shape;124;p23"/>
          <p:cNvSpPr txBox="1"/>
          <p:nvPr>
            <p:ph idx="6" type="subTitle"/>
          </p:nvPr>
        </p:nvSpPr>
        <p:spPr>
          <a:xfrm>
            <a:off x="513357" y="18989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1- Fer un repositori en GitHub</a:t>
            </a:r>
            <a:endParaRPr/>
          </a:p>
        </p:txBody>
      </p:sp>
      <p:sp>
        <p:nvSpPr>
          <p:cNvPr id="125" name="Google Shape;125;p23"/>
          <p:cNvSpPr txBox="1"/>
          <p:nvPr>
            <p:ph idx="8" type="subTitle"/>
          </p:nvPr>
        </p:nvSpPr>
        <p:spPr>
          <a:xfrm>
            <a:off x="4727500" y="1898925"/>
            <a:ext cx="3903300" cy="659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2- Fer un tauler en Trello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/>
          <p:nvPr/>
        </p:nvSpPr>
        <p:spPr>
          <a:xfrm>
            <a:off x="1561338" y="983825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1" name="Google Shape;131;p24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Perfils d’usuari a l’aplicació QUEMENGES</a:t>
            </a:r>
            <a:endParaRPr/>
          </a:p>
        </p:txBody>
      </p:sp>
      <p:sp>
        <p:nvSpPr>
          <p:cNvPr id="132" name="Google Shape;132;p24"/>
          <p:cNvSpPr txBox="1"/>
          <p:nvPr>
            <p:ph idx="6" type="subTitle"/>
          </p:nvPr>
        </p:nvSpPr>
        <p:spPr>
          <a:xfrm>
            <a:off x="3040588" y="1067825"/>
            <a:ext cx="1261800" cy="45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Repartidor</a:t>
            </a:r>
            <a:endParaRPr/>
          </a:p>
        </p:txBody>
      </p:sp>
      <p:sp>
        <p:nvSpPr>
          <p:cNvPr id="133" name="Google Shape;133;p24"/>
          <p:cNvSpPr txBox="1"/>
          <p:nvPr>
            <p:ph idx="1" type="subTitle"/>
          </p:nvPr>
        </p:nvSpPr>
        <p:spPr>
          <a:xfrm>
            <a:off x="3040588" y="1441963"/>
            <a:ext cx="1404600" cy="155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 el cuiner el té contractat, envia </a:t>
            </a:r>
            <a:r>
              <a:rPr lang="en"/>
              <a:t>comandes</a:t>
            </a:r>
            <a:r>
              <a:rPr lang="en"/>
              <a:t> des del comicili del Cuiner fins al punt de recollida. Rep pagaments. </a:t>
            </a:r>
            <a:endParaRPr/>
          </a:p>
        </p:txBody>
      </p:sp>
      <p:sp>
        <p:nvSpPr>
          <p:cNvPr id="134" name="Google Shape;134;p24"/>
          <p:cNvSpPr/>
          <p:nvPr/>
        </p:nvSpPr>
        <p:spPr>
          <a:xfrm>
            <a:off x="3133800" y="3115450"/>
            <a:ext cx="2876100" cy="18405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5" name="Google Shape;135;p24"/>
          <p:cNvSpPr/>
          <p:nvPr/>
        </p:nvSpPr>
        <p:spPr>
          <a:xfrm>
            <a:off x="4639063" y="983813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6" name="Google Shape;136;p24"/>
          <p:cNvSpPr txBox="1"/>
          <p:nvPr>
            <p:ph idx="2" type="subTitle"/>
          </p:nvPr>
        </p:nvSpPr>
        <p:spPr>
          <a:xfrm>
            <a:off x="6320438" y="1436213"/>
            <a:ext cx="1261800" cy="14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 menjars per a que els clients puguin fer comandes. Rep pagaments i valoracions. </a:t>
            </a:r>
            <a:endParaRPr/>
          </a:p>
        </p:txBody>
      </p:sp>
      <p:sp>
        <p:nvSpPr>
          <p:cNvPr id="137" name="Google Shape;137;p24"/>
          <p:cNvSpPr txBox="1"/>
          <p:nvPr>
            <p:ph idx="7" type="subTitle"/>
          </p:nvPr>
        </p:nvSpPr>
        <p:spPr>
          <a:xfrm>
            <a:off x="6320437" y="1081313"/>
            <a:ext cx="1261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Cuiner</a:t>
            </a:r>
            <a:endParaRPr/>
          </a:p>
        </p:txBody>
      </p:sp>
      <p:sp>
        <p:nvSpPr>
          <p:cNvPr id="138" name="Google Shape;138;p24"/>
          <p:cNvSpPr txBox="1"/>
          <p:nvPr>
            <p:ph idx="1" type="subTitle"/>
          </p:nvPr>
        </p:nvSpPr>
        <p:spPr>
          <a:xfrm>
            <a:off x="4605116" y="3739768"/>
            <a:ext cx="1404600" cy="10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Demana, paga i valora comandes.  </a:t>
            </a:r>
            <a:endParaRPr/>
          </a:p>
        </p:txBody>
      </p:sp>
      <p:sp>
        <p:nvSpPr>
          <p:cNvPr id="139" name="Google Shape;139;p24"/>
          <p:cNvSpPr txBox="1"/>
          <p:nvPr>
            <p:ph idx="5" type="subTitle"/>
          </p:nvPr>
        </p:nvSpPr>
        <p:spPr>
          <a:xfrm>
            <a:off x="4605123" y="3320484"/>
            <a:ext cx="1404600" cy="50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</p:txBody>
      </p:sp>
      <p:pic>
        <p:nvPicPr>
          <p:cNvPr id="140" name="Google Shape;140;p24" title="Recetas de pasta de Karlos Arguiñano _ Web oficial Antena 3.jpg"/>
          <p:cNvPicPr preferRelativeResize="0"/>
          <p:nvPr/>
        </p:nvPicPr>
        <p:blipFill rotWithShape="1">
          <a:blip r:embed="rId3">
            <a:alphaModFix/>
          </a:blip>
          <a:srcRect b="0" l="19533" r="19539" t="0"/>
          <a:stretch/>
        </p:blipFill>
        <p:spPr>
          <a:xfrm>
            <a:off x="4739113" y="1070350"/>
            <a:ext cx="1495200" cy="1840525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41" name="Google Shape;141;p24" title="meme drôle.jpg"/>
          <p:cNvPicPr preferRelativeResize="0"/>
          <p:nvPr/>
        </p:nvPicPr>
        <p:blipFill rotWithShape="1">
          <a:blip r:embed="rId4">
            <a:alphaModFix/>
          </a:blip>
          <a:srcRect b="0" l="5000" r="-5000" t="6533"/>
          <a:stretch/>
        </p:blipFill>
        <p:spPr>
          <a:xfrm>
            <a:off x="3276426" y="3224051"/>
            <a:ext cx="1174426" cy="1623323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42" name="Google Shape;142;p24" title="Pizza Delivery Man stock image_ Image of smiling, italian - 7741877.jpg"/>
          <p:cNvPicPr preferRelativeResize="0"/>
          <p:nvPr/>
        </p:nvPicPr>
        <p:blipFill rotWithShape="1">
          <a:blip r:embed="rId5">
            <a:alphaModFix/>
          </a:blip>
          <a:srcRect b="0" l="0" r="6925" t="6103"/>
          <a:stretch/>
        </p:blipFill>
        <p:spPr>
          <a:xfrm>
            <a:off x="1659537" y="1073454"/>
            <a:ext cx="1261800" cy="1818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48" name="Google Shape;148;p25"/>
          <p:cNvSpPr txBox="1"/>
          <p:nvPr/>
        </p:nvSpPr>
        <p:spPr>
          <a:xfrm>
            <a:off x="214796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1: GESTIÓ DE COMPTES I CREACIÓ DE PERFILS D'USUARI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1: </a:t>
            </a:r>
            <a:r>
              <a:rPr lang="en">
                <a:solidFill>
                  <a:schemeClr val="dk1"/>
                </a:solidFill>
              </a:rPr>
              <a:t>Els usuaris podran registrar-se amb correu.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2: </a:t>
            </a:r>
            <a:r>
              <a:rPr lang="en">
                <a:solidFill>
                  <a:schemeClr val="dk1"/>
                </a:solidFill>
              </a:rPr>
              <a:t>Només els usuaris registrats podran realitzar comandes.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clients podran registrar-se amb Gmail o amb Outlook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4: </a:t>
            </a:r>
            <a:r>
              <a:rPr lang="en">
                <a:solidFill>
                  <a:schemeClr val="dk1"/>
                </a:solidFill>
              </a:rPr>
              <a:t>Els usuaris hauran d’indicar l'adreça de recollida.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5: </a:t>
            </a:r>
            <a:r>
              <a:rPr lang="en">
                <a:solidFill>
                  <a:schemeClr val="dk1"/>
                </a:solidFill>
              </a:rPr>
              <a:t>Els usuaris hauran de definir el seu nom d'usuari.</a:t>
            </a:r>
            <a:r>
              <a:rPr b="1" lang="en">
                <a:solidFill>
                  <a:schemeClr val="dk1"/>
                </a:solidFill>
              </a:rPr>
              <a:t>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6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nom d’usuari ha de tenir més de 5 caràcters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 7: </a:t>
            </a:r>
            <a:r>
              <a:rPr lang="en">
                <a:solidFill>
                  <a:schemeClr val="dk1"/>
                </a:solidFill>
              </a:rPr>
              <a:t>El nom d’usuari no pot estar repetit dins del sistema.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8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contrasenya ha de tenir més de 8 caràcters, tenir 2 majúscules i més de 2 caràcters especials.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9: </a:t>
            </a:r>
            <a:r>
              <a:rPr lang="en">
                <a:solidFill>
                  <a:schemeClr val="dk1"/>
                </a:solidFill>
              </a:rPr>
              <a:t>El perfil s’ha de poder actualitzar.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10: </a:t>
            </a:r>
            <a:r>
              <a:rPr lang="en">
                <a:solidFill>
                  <a:schemeClr val="dk1"/>
                </a:solidFill>
              </a:rPr>
              <a:t>El perfil s’ha d’eliminar quan el donem de baixa.</a:t>
            </a:r>
            <a:r>
              <a:rPr b="1" lang="en">
                <a:solidFill>
                  <a:schemeClr val="dk1"/>
                </a:solidFill>
              </a:rPr>
              <a:t>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11: </a:t>
            </a:r>
            <a:r>
              <a:rPr lang="en">
                <a:solidFill>
                  <a:schemeClr val="dk1"/>
                </a:solidFill>
              </a:rPr>
              <a:t>S’ha d’indicar el tipus de compte que es vol crear (client, repartidor o cuiner).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12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rols que s'han assumit es poden modificar en qualsevol moment.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54" name="Google Shape;154;p26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2: REALITZACIÓ DE COMANDES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13: </a:t>
            </a:r>
            <a:r>
              <a:rPr lang="en" sz="1300">
                <a:solidFill>
                  <a:schemeClr val="dk1"/>
                </a:solidFill>
              </a:rPr>
              <a:t>Es poden indicar restriccions alimentaries al perfil.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14: </a:t>
            </a:r>
            <a:r>
              <a:rPr lang="en" sz="1300">
                <a:solidFill>
                  <a:schemeClr val="dk1"/>
                </a:solidFill>
              </a:rPr>
              <a:t>Els clients poden consultar tots els plats i menús que son oferits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15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Es mostraran primer els plats i menús que compleixen amb les restriccions alimentaries indicades al perfil. (RNF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16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També es visualitza el temps estimat d'entrega (RNF de </a:t>
            </a:r>
            <a:r>
              <a:rPr lang="en" sz="1300" u="sng">
                <a:solidFill>
                  <a:schemeClr val="dk1"/>
                </a:solidFill>
              </a:rPr>
              <a:t>Interfície externa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17: </a:t>
            </a:r>
            <a:r>
              <a:rPr lang="en" sz="1300">
                <a:solidFill>
                  <a:schemeClr val="dk1"/>
                </a:solidFill>
              </a:rPr>
              <a:t>Els usuaris poden escollir entre dos vistes: Un llistat de plats i menús, o un llistat dels usuaris que ofereixen serveis en aquell moment, dels quals el client pot veure els plats oferits.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18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Les dos llistes seran ordenades segons la distància física entre client i cuiner (RNF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).</a:t>
            </a:r>
            <a:r>
              <a:rPr b="1" lang="en" sz="1300">
                <a:solidFill>
                  <a:schemeClr val="dk1"/>
                </a:solidFill>
              </a:rPr>
              <a:t> 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19: </a:t>
            </a:r>
            <a:r>
              <a:rPr lang="en" sz="1300">
                <a:solidFill>
                  <a:schemeClr val="dk1"/>
                </a:solidFill>
              </a:rPr>
              <a:t>Els clients poden cercar per nom un plat o cuiner específics i reservar una comanda per a una hora en què el cuiner estigui disponible.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20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Els cuiners poden aparèixer en el llistat com a no disponibles, indicant l'hora en què poden acceptar comandes. (RNF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21: </a:t>
            </a:r>
            <a:r>
              <a:rPr lang="en" sz="1300">
                <a:solidFill>
                  <a:schemeClr val="dk1"/>
                </a:solidFill>
              </a:rPr>
              <a:t>Els usuaris poden consultar els al·lèrgens i ingredients que contenen els plats i modificar els ingredients indicats com a opcionals per l'autor de la recepta.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22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Un mateix client no podrà tenir més de tres comandes actives alhora. (RNF de </a:t>
            </a:r>
            <a:r>
              <a:rPr lang="en" sz="1300" u="sng">
                <a:solidFill>
                  <a:schemeClr val="dk1"/>
                </a:solidFill>
              </a:rPr>
              <a:t>Rendiment estàtic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23: </a:t>
            </a:r>
            <a:r>
              <a:rPr lang="en" sz="1300">
                <a:solidFill>
                  <a:schemeClr val="dk1"/>
                </a:solidFill>
              </a:rPr>
              <a:t>Els clients podran consultar el seu historial de comandes, i repetir una comanda previa si està disponible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60" name="Google Shape;160;p27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3: ENVIAMENT DE COMANDES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24: </a:t>
            </a:r>
            <a:r>
              <a:rPr lang="en">
                <a:solidFill>
                  <a:schemeClr val="dk1"/>
                </a:solidFill>
              </a:rPr>
              <a:t>Es pot escollir entre tres tipus d’enviament (que l’envii el cuiner, un repartidor, o que el busqui el client). 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25: </a:t>
            </a:r>
            <a:r>
              <a:rPr lang="en">
                <a:solidFill>
                  <a:schemeClr val="dk1"/>
                </a:solidFill>
              </a:rPr>
              <a:t>El cost de l’enviament es calcula segons la distància entre el cuiner i el</a:t>
            </a: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lloc de lliurament.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26: </a:t>
            </a:r>
            <a:r>
              <a:rPr lang="en">
                <a:solidFill>
                  <a:schemeClr val="dk1"/>
                </a:solidFill>
              </a:rPr>
              <a:t>L’enviament és gratuït quan el client recull la comanda al domicili del cuiner.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27: </a:t>
            </a:r>
            <a:r>
              <a:rPr lang="en">
                <a:solidFill>
                  <a:schemeClr val="dk1"/>
                </a:solidFill>
              </a:rPr>
              <a:t>El client pot seguir el progrés de l’entrega un cop l’enviament ha començat.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28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posició del repartidor es mostra en un mapa utilitzant la interfície de Google Maps.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66" name="Google Shape;166;p28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4: PAGAMENT DE LA COMANDA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29:</a:t>
            </a:r>
            <a:r>
              <a:rPr lang="en">
                <a:solidFill>
                  <a:schemeClr val="dk1"/>
                </a:solidFill>
              </a:rPr>
              <a:t> El pagament de la comanda es fa des de la mateixa aplicació amb targeta bancària o Paypal.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30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sistema s'ha de connectar amb la plataforma de pagament corresponent per autenticar les dades i confirmar la transacció.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31: </a:t>
            </a:r>
            <a:r>
              <a:rPr lang="en">
                <a:solidFill>
                  <a:schemeClr val="dk1"/>
                </a:solidFill>
              </a:rPr>
              <a:t>Un cop pagada la comanda, el sistema realitza l'ingrés al cuiner i al repartidor.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32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cuiner i el repartidor han de tenir un compte bancari associat al seu perfil d'usuari. (RNF de </a:t>
            </a:r>
            <a:r>
              <a:rPr lang="en" u="sng">
                <a:solidFill>
                  <a:schemeClr val="dk1"/>
                </a:solidFill>
              </a:rPr>
              <a:t>Restricció de Disseny, seguretat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72" name="Google Shape;172;p29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5: VALORACIÓ DE LA COMANDA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33: </a:t>
            </a:r>
            <a:r>
              <a:rPr lang="en">
                <a:solidFill>
                  <a:schemeClr val="dk1"/>
                </a:solidFill>
              </a:rPr>
              <a:t>El client pot valorar una comanda un cop l'ha rebut en camps com "puntualitat" i "estat del menjar".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34: </a:t>
            </a:r>
            <a:r>
              <a:rPr lang="en">
                <a:solidFill>
                  <a:schemeClr val="dk1"/>
                </a:solidFill>
              </a:rPr>
              <a:t>Les valoracions s'associen al cuiner que ha preparat el plat.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35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cuiners recomanats s’ordenen segons la seva valoració (a major valoració, més amunt apareixen).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78" name="Google Shape;178;p30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6: FUNCIONALITATS ADDICIONALS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36: </a:t>
            </a:r>
            <a:r>
              <a:rPr lang="en">
                <a:solidFill>
                  <a:schemeClr val="dk1"/>
                </a:solidFill>
              </a:rPr>
              <a:t>Els clients poden proposar els plats que volen consumir i aquests s'afegeixen a un menú específic on un cuiner els accepta.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37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Només els cuiners poden accedir al menú especific.(RNF de </a:t>
            </a:r>
            <a:r>
              <a:rPr lang="en" u="sng">
                <a:solidFill>
                  <a:schemeClr val="dk1"/>
                </a:solidFill>
              </a:rPr>
              <a:t>Restricció de Disseny, seguretat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38: </a:t>
            </a:r>
            <a:r>
              <a:rPr lang="en">
                <a:solidFill>
                  <a:schemeClr val="dk1"/>
                </a:solidFill>
              </a:rPr>
              <a:t>Hi ha xat client-cuiner per a garantir un bon servei.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39: </a:t>
            </a:r>
            <a:r>
              <a:rPr lang="en">
                <a:solidFill>
                  <a:schemeClr val="dk1"/>
                </a:solidFill>
              </a:rPr>
              <a:t>Els usuaris es poden subscriure un pla mensual amb tarifa d'enviaments i sistema de punts.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40: </a:t>
            </a:r>
            <a:r>
              <a:rPr lang="en">
                <a:solidFill>
                  <a:schemeClr val="dk1"/>
                </a:solidFill>
              </a:rPr>
              <a:t>Si es realitzen comanda es guanyen punts i els punts serveixen per a obtener descomptes.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84" name="Google Shape;184;p31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ALTRES CONSIDERACIONS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41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Es farà servir a l'àrea metropolitana de Barcelona (RNF de </a:t>
            </a:r>
            <a:r>
              <a:rPr lang="en" u="sng">
                <a:solidFill>
                  <a:schemeClr val="dk1"/>
                </a:solidFill>
              </a:rPr>
              <a:t>Restricció de Disseny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42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interfície serà trilingüe: Espanyol, Català i Anglès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43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Apte tant per a Web com per a Mòbil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44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Mòbils hauran de tenir sistema operatiu IOS o Android (RNF de </a:t>
            </a:r>
            <a:r>
              <a:rPr lang="en" u="sng">
                <a:solidFill>
                  <a:schemeClr val="dk1"/>
                </a:solidFill>
              </a:rPr>
              <a:t>Restricció de Disseny, limitació de Hw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45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Lletra Calibri tant a encapçalaments com per a la resta de continguts.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46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Color corporatiu taronja i  El logo ha d'aparèixer a totes les pantalles.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47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app ha de suportar 1000 usuaris connectats alhora (RNF de </a:t>
            </a:r>
            <a:r>
              <a:rPr lang="en" u="sng">
                <a:solidFill>
                  <a:schemeClr val="dk1"/>
                </a:solidFill>
              </a:rPr>
              <a:t>Rendiment estàtic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48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temps màxim de resposta de la app ha de ser de 5 milisegons (RNF de </a:t>
            </a:r>
            <a:r>
              <a:rPr lang="en" u="sng">
                <a:solidFill>
                  <a:schemeClr val="dk1"/>
                </a:solidFill>
              </a:rPr>
              <a:t>Rendiment dinàmic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49</a:t>
            </a:r>
            <a:r>
              <a:rPr b="1" lang="en">
                <a:solidFill>
                  <a:schemeClr val="dk1"/>
                </a:solidFill>
              </a:rPr>
              <a:t>:</a:t>
            </a:r>
            <a:r>
              <a:rPr lang="en">
                <a:solidFill>
                  <a:schemeClr val="dk1"/>
                </a:solidFill>
              </a:rPr>
              <a:t> Per a encriptar dades es farà servir el protocol OpenVPN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50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Interfície amigable i responsive. (RNF </a:t>
            </a:r>
            <a:r>
              <a:rPr lang="en" u="sng">
                <a:solidFill>
                  <a:schemeClr val="dk1"/>
                </a:solidFill>
              </a:rPr>
              <a:t>d'Objectius de Disseny</a:t>
            </a:r>
            <a:r>
              <a:rPr b="1" lang="en">
                <a:solidFill>
                  <a:schemeClr val="dk1"/>
                </a:solidFill>
              </a:rPr>
              <a:t>).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Burn-down chart</a:t>
            </a:r>
            <a:endParaRPr/>
          </a:p>
        </p:txBody>
      </p:sp>
      <p:pic>
        <p:nvPicPr>
          <p:cNvPr id="190" name="Google Shape;19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7271" y="972326"/>
            <a:ext cx="2987298" cy="3551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9444" y="972326"/>
            <a:ext cx="3145298" cy="35519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