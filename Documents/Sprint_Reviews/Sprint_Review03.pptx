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Hind"/>
      <p:regular r:id="rId34"/>
      <p:bold r:id="rId35"/>
    </p:embeddedFont>
    <p:embeddedFont>
      <p:font typeface="Space Grotesk Medium"/>
      <p:regular r:id="rId36"/>
      <p:bold r:id="rId37"/>
    </p:embeddedFont>
    <p:embeddedFont>
      <p:font typeface="Space Grotesk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Hind-bold.fntdata"/><Relationship Id="rId12" Type="http://schemas.openxmlformats.org/officeDocument/2006/relationships/slide" Target="slides/slide8.xml"/><Relationship Id="rId34" Type="http://schemas.openxmlformats.org/officeDocument/2006/relationships/font" Target="fonts/Hind-regular.fntdata"/><Relationship Id="rId15" Type="http://schemas.openxmlformats.org/officeDocument/2006/relationships/slide" Target="slides/slide11.xml"/><Relationship Id="rId37" Type="http://schemas.openxmlformats.org/officeDocument/2006/relationships/font" Target="fonts/SpaceGroteskMedium-bold.fntdata"/><Relationship Id="rId14" Type="http://schemas.openxmlformats.org/officeDocument/2006/relationships/slide" Target="slides/slide10.xml"/><Relationship Id="rId36" Type="http://schemas.openxmlformats.org/officeDocument/2006/relationships/font" Target="fonts/SpaceGroteskMedium-regular.fntdata"/><Relationship Id="rId17" Type="http://schemas.openxmlformats.org/officeDocument/2006/relationships/slide" Target="slides/slide13.xml"/><Relationship Id="rId39" Type="http://schemas.openxmlformats.org/officeDocument/2006/relationships/font" Target="fonts/SpaceGrotesk-bold.fntdata"/><Relationship Id="rId16" Type="http://schemas.openxmlformats.org/officeDocument/2006/relationships/slide" Target="slides/slide12.xml"/><Relationship Id="rId38" Type="http://schemas.openxmlformats.org/officeDocument/2006/relationships/font" Target="fonts/SpaceGrotesk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70ef3b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70ef3b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2d10b5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2d10b5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e79b5b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0e79b5b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95522918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95522918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b97d8ae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b97d8ae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8e3ba49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38e3ba49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38e3ba49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38e3ba49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38e3ba49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38e3ba49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552291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9552291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Muy bien, alguna clase mas podirmos meter, clase entrega (une repartidor-comanda), clase pago → otros lo tienen nosotros no, peo en diagrama seq, clase comanda sera muy extensa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Meter esas clases facilitarian cosas, pero esta muy bien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Propuesta plat, colgarla de xat (a la derecha de xat), xat sale de proposta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Rombo cuiner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Rombo plato a ingrediente (no tenemos ingrediente)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f70ef3b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f70ef3b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95522918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95522918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38e3ba4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38e3ba4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38e3ba49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38e3ba4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38e3ba49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38e3ba49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38e3ba49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38e3ba49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38e3ba49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38e3ba4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38e3ba49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38e3ba49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38e3ba4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38e3ba4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38e3ba49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38e3ba49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38e3ba49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38e3ba49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8e3ba49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38e3ba49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38e3ba49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38e3ba49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38e3ba49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38e3ba49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38e3ba49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38e3ba49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38e3ba49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38e3ba49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38e3ba49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38e3ba49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38e3ba49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38e3ba49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38e3ba49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38e3ba49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766500"/>
            <a:ext cx="6204300" cy="29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28600" y="3940200"/>
            <a:ext cx="6505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4408725" y="3456300"/>
            <a:ext cx="450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28622" y="1397700"/>
            <a:ext cx="8686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28600" y="1042800"/>
            <a:ext cx="86868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4408771" y="3101400"/>
            <a:ext cx="45066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" name="Google Shape;24;p5"/>
          <p:cNvSpPr/>
          <p:nvPr>
            <p:ph idx="5" type="pic"/>
          </p:nvPr>
        </p:nvSpPr>
        <p:spPr>
          <a:xfrm flipH="1">
            <a:off x="228599" y="2807700"/>
            <a:ext cx="3693600" cy="186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228600" y="1313400"/>
            <a:ext cx="6576000" cy="13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4803000" y="3399000"/>
            <a:ext cx="4112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hasCustomPrompt="1" idx="2" type="title"/>
          </p:nvPr>
        </p:nvSpPr>
        <p:spPr>
          <a:xfrm>
            <a:off x="228600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3" type="title"/>
          </p:nvPr>
        </p:nvSpPr>
        <p:spPr>
          <a:xfrm>
            <a:off x="228600" y="228056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4" type="title"/>
          </p:nvPr>
        </p:nvSpPr>
        <p:spPr>
          <a:xfrm>
            <a:off x="2751896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5" type="title"/>
          </p:nvPr>
        </p:nvSpPr>
        <p:spPr>
          <a:xfrm>
            <a:off x="2751896" y="228057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6" type="title"/>
          </p:nvPr>
        </p:nvSpPr>
        <p:spPr>
          <a:xfrm>
            <a:off x="228599" y="366519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hasCustomPrompt="1" idx="7" type="title"/>
          </p:nvPr>
        </p:nvSpPr>
        <p:spPr>
          <a:xfrm>
            <a:off x="2751899" y="3665211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2286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8" type="subTitle"/>
          </p:nvPr>
        </p:nvSpPr>
        <p:spPr>
          <a:xfrm>
            <a:off x="27519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9" type="subTitle"/>
          </p:nvPr>
        </p:nvSpPr>
        <p:spPr>
          <a:xfrm>
            <a:off x="228600" y="414310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3" type="subTitle"/>
          </p:nvPr>
        </p:nvSpPr>
        <p:spPr>
          <a:xfrm>
            <a:off x="2286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4" type="subTitle"/>
          </p:nvPr>
        </p:nvSpPr>
        <p:spPr>
          <a:xfrm>
            <a:off x="27519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5" type="subTitle"/>
          </p:nvPr>
        </p:nvSpPr>
        <p:spPr>
          <a:xfrm>
            <a:off x="2751900" y="4143202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3"/>
          <p:cNvSpPr/>
          <p:nvPr>
            <p:ph idx="16" type="pic"/>
          </p:nvPr>
        </p:nvSpPr>
        <p:spPr>
          <a:xfrm>
            <a:off x="5655325" y="895950"/>
            <a:ext cx="3260100" cy="401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28600" y="888300"/>
            <a:ext cx="7496100" cy="15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528775" y="2624550"/>
            <a:ext cx="6387300" cy="16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28600" y="2215200"/>
            <a:ext cx="4356000" cy="26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4778100" y="228600"/>
            <a:ext cx="4137300" cy="468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778050" y="1334504"/>
            <a:ext cx="4137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778050" y="2666116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3" type="subTitle"/>
          </p:nvPr>
        </p:nvSpPr>
        <p:spPr>
          <a:xfrm>
            <a:off x="4778050" y="3997725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4778050" y="979600"/>
            <a:ext cx="4137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subTitle"/>
          </p:nvPr>
        </p:nvSpPr>
        <p:spPr>
          <a:xfrm>
            <a:off x="4778050" y="231120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6" type="subTitle"/>
          </p:nvPr>
        </p:nvSpPr>
        <p:spPr>
          <a:xfrm>
            <a:off x="4778050" y="364281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" name="Google Shape;72;p16"/>
          <p:cNvSpPr/>
          <p:nvPr>
            <p:ph idx="7" type="pic"/>
          </p:nvPr>
        </p:nvSpPr>
        <p:spPr>
          <a:xfrm>
            <a:off x="228600" y="891600"/>
            <a:ext cx="3602700" cy="402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513256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4727444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subTitle"/>
          </p:nvPr>
        </p:nvSpPr>
        <p:spPr>
          <a:xfrm>
            <a:off x="513256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subTitle"/>
          </p:nvPr>
        </p:nvSpPr>
        <p:spPr>
          <a:xfrm>
            <a:off x="4727444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5" type="subTitle"/>
          </p:nvPr>
        </p:nvSpPr>
        <p:spPr>
          <a:xfrm>
            <a:off x="513257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subTitle"/>
          </p:nvPr>
        </p:nvSpPr>
        <p:spPr>
          <a:xfrm>
            <a:off x="513257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subTitle"/>
          </p:nvPr>
        </p:nvSpPr>
        <p:spPr>
          <a:xfrm>
            <a:off x="4727408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4727408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28603" y="669425"/>
            <a:ext cx="56175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28601" y="1962425"/>
            <a:ext cx="26058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/>
        </p:nvSpPr>
        <p:spPr>
          <a:xfrm>
            <a:off x="6732300" y="3519775"/>
            <a:ext cx="218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b="1" sz="1000" u="sng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b="1" sz="2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jpg"/><Relationship Id="rId4" Type="http://schemas.openxmlformats.org/officeDocument/2006/relationships/image" Target="../media/image39.jpg"/><Relationship Id="rId5" Type="http://schemas.openxmlformats.org/officeDocument/2006/relationships/image" Target="../media/image10.jpg"/><Relationship Id="rId6" Type="http://schemas.openxmlformats.org/officeDocument/2006/relationships/image" Target="../media/image14.jpg"/><Relationship Id="rId7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710400" y="80100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Enginyeria del Software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7210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Pràctiques: Grup 431-05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 2025-2026</a:t>
            </a:r>
            <a:endParaRPr sz="8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96" name="Google Shape;96;p21"/>
          <p:cNvCxnSpPr>
            <a:stCxn id="95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21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1253100" y="3838650"/>
            <a:ext cx="7723200" cy="4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28600" y="1362172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Composició de l’equip</a:t>
            </a:r>
            <a:endParaRPr/>
          </a:p>
        </p:txBody>
      </p:sp>
      <p:sp>
        <p:nvSpPr>
          <p:cNvPr id="104" name="Google Shape;104;p22"/>
          <p:cNvSpPr txBox="1"/>
          <p:nvPr>
            <p:ph idx="4294967295" type="subTitle"/>
          </p:nvPr>
        </p:nvSpPr>
        <p:spPr>
          <a:xfrm>
            <a:off x="1354521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</a:t>
            </a:r>
            <a:r>
              <a:rPr lang="en"/>
              <a:t>rina Martín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 txBox="1"/>
          <p:nvPr>
            <p:ph idx="4294967295" type="subTitle"/>
          </p:nvPr>
        </p:nvSpPr>
        <p:spPr>
          <a:xfrm>
            <a:off x="3053694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Ariadna Cano</a:t>
            </a:r>
            <a:endParaRPr/>
          </a:p>
        </p:txBody>
      </p:sp>
      <p:sp>
        <p:nvSpPr>
          <p:cNvPr id="106" name="Google Shape;106;p22"/>
          <p:cNvSpPr txBox="1"/>
          <p:nvPr>
            <p:ph idx="4294967295" type="subTitle"/>
          </p:nvPr>
        </p:nvSpPr>
        <p:spPr>
          <a:xfrm>
            <a:off x="4680462" y="3376316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Luna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(Scrum Master)</a:t>
            </a:r>
            <a:endParaRPr/>
          </a:p>
        </p:txBody>
      </p:sp>
      <p:sp>
        <p:nvSpPr>
          <p:cNvPr id="107" name="Google Shape;107;p22"/>
          <p:cNvSpPr txBox="1"/>
          <p:nvPr>
            <p:ph idx="4294967295" type="subTitle"/>
          </p:nvPr>
        </p:nvSpPr>
        <p:spPr>
          <a:xfrm>
            <a:off x="6307194" y="3376323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Daria Radoi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787" y="2257725"/>
            <a:ext cx="1068128" cy="106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9763" y="2275875"/>
            <a:ext cx="1031826" cy="103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IMG-20250713-WA0003.jpg"/>
          <p:cNvPicPr preferRelativeResize="0"/>
          <p:nvPr/>
        </p:nvPicPr>
        <p:blipFill rotWithShape="1">
          <a:blip r:embed="rId5">
            <a:alphaModFix/>
          </a:blip>
          <a:srcRect b="41890" l="20975" r="52416" t="38154"/>
          <a:stretch/>
        </p:blipFill>
        <p:spPr>
          <a:xfrm>
            <a:off x="3260775" y="2257725"/>
            <a:ext cx="1068150" cy="10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WhatsApp Image 2026-03-15 at 17.03.54.jpeg"/>
          <p:cNvPicPr preferRelativeResize="0"/>
          <p:nvPr/>
        </p:nvPicPr>
        <p:blipFill rotWithShape="1">
          <a:blip r:embed="rId6">
            <a:alphaModFix/>
          </a:blip>
          <a:srcRect b="44864" l="43153" r="40663" t="42841"/>
          <a:stretch/>
        </p:blipFill>
        <p:spPr>
          <a:xfrm>
            <a:off x="6514275" y="2275875"/>
            <a:ext cx="1031826" cy="104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7">
            <a:alphaModFix/>
          </a:blip>
          <a:srcRect b="53444" l="3895" r="56438" t="26495"/>
          <a:stretch/>
        </p:blipFill>
        <p:spPr>
          <a:xfrm>
            <a:off x="4932000" y="2241575"/>
            <a:ext cx="979193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0" y="228600"/>
            <a:ext cx="52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Tasques fetes a l’sprint</a:t>
            </a:r>
            <a:endParaRPr/>
          </a:p>
        </p:txBody>
      </p:sp>
      <p:sp>
        <p:nvSpPr>
          <p:cNvPr id="118" name="Google Shape;118;p23"/>
          <p:cNvSpPr txBox="1"/>
          <p:nvPr>
            <p:ph idx="6" type="subTitle"/>
          </p:nvPr>
        </p:nvSpPr>
        <p:spPr>
          <a:xfrm>
            <a:off x="785400" y="1405125"/>
            <a:ext cx="3680700" cy="29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1- Correcció final diagrama CU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2- Diagrama de Clases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3- Especificacions (dividides per grups)</a:t>
            </a:r>
            <a:endParaRPr b="0" sz="900"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4- Fer la presentació i charts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→ Revisió després de cada tasca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100" y="152400"/>
            <a:ext cx="258115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228600" y="19932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</a:t>
            </a:r>
            <a:r>
              <a:rPr lang="en"/>
              <a:t>CU</a:t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4420"/>
            <a:ext cx="8839199" cy="3623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228600" y="19932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CU</a:t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50" y="801300"/>
            <a:ext cx="7801900" cy="41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684484"/>
            <a:ext cx="8686799" cy="4384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/>
          <p:nvPr/>
        </p:nvSpPr>
        <p:spPr>
          <a:xfrm rot="364171">
            <a:off x="5374133" y="1470981"/>
            <a:ext cx="3716835" cy="2204789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4" name="Google Shape;134;p25"/>
          <p:cNvSpPr/>
          <p:nvPr/>
        </p:nvSpPr>
        <p:spPr>
          <a:xfrm rot="-4041454">
            <a:off x="4327240" y="3365464"/>
            <a:ext cx="1992577" cy="1300662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5" name="Google Shape;135;p25"/>
          <p:cNvSpPr/>
          <p:nvPr/>
        </p:nvSpPr>
        <p:spPr>
          <a:xfrm rot="-1192">
            <a:off x="5790750" y="4261051"/>
            <a:ext cx="865500" cy="807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6" name="Google Shape;136;p25"/>
          <p:cNvSpPr/>
          <p:nvPr/>
        </p:nvSpPr>
        <p:spPr>
          <a:xfrm rot="-1545">
            <a:off x="2707450" y="3092914"/>
            <a:ext cx="1335000" cy="19416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7" name="Google Shape;137;p25"/>
          <p:cNvSpPr/>
          <p:nvPr/>
        </p:nvSpPr>
        <p:spPr>
          <a:xfrm rot="-563421">
            <a:off x="178114" y="617516"/>
            <a:ext cx="1217211" cy="1853584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8" name="Google Shape;138;p25"/>
          <p:cNvSpPr/>
          <p:nvPr/>
        </p:nvSpPr>
        <p:spPr>
          <a:xfrm rot="-869">
            <a:off x="6916825" y="684613"/>
            <a:ext cx="1186200" cy="7356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39" name="Google Shape;139;p25"/>
          <p:cNvSpPr/>
          <p:nvPr/>
        </p:nvSpPr>
        <p:spPr>
          <a:xfrm rot="-1293">
            <a:off x="1296625" y="684175"/>
            <a:ext cx="3191400" cy="6606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3942925" y="4398585"/>
            <a:ext cx="545100" cy="5727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1" name="Google Shape;141;p25"/>
          <p:cNvSpPr/>
          <p:nvPr/>
        </p:nvSpPr>
        <p:spPr>
          <a:xfrm rot="-1094">
            <a:off x="6656250" y="4317113"/>
            <a:ext cx="942600" cy="7356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2" name="Google Shape;142;p25"/>
          <p:cNvSpPr/>
          <p:nvPr/>
        </p:nvSpPr>
        <p:spPr>
          <a:xfrm rot="5399221">
            <a:off x="62904" y="2332200"/>
            <a:ext cx="2647500" cy="25887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43" name="Google Shape;143;p25"/>
          <p:cNvSpPr/>
          <p:nvPr/>
        </p:nvSpPr>
        <p:spPr>
          <a:xfrm rot="1965191">
            <a:off x="4065009" y="593962"/>
            <a:ext cx="1323054" cy="2272877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75" y="152400"/>
            <a:ext cx="36922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4576810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541025"/>
            <a:ext cx="4267200" cy="4061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50" y="495300"/>
            <a:ext cx="4267200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228600" y="19932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</a:t>
            </a:r>
            <a:r>
              <a:rPr lang="en"/>
              <a:t>Classes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350" y="772020"/>
            <a:ext cx="4663289" cy="406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Burn-down chart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700" y="953700"/>
            <a:ext cx="3522215" cy="365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754" y="953700"/>
            <a:ext cx="3635997" cy="36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700" y="953700"/>
            <a:ext cx="3522224" cy="3769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750" y="953700"/>
            <a:ext cx="3636000" cy="369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8701" y="953700"/>
            <a:ext cx="3522225" cy="37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9750" y="953700"/>
            <a:ext cx="3636000" cy="36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8700" y="953700"/>
            <a:ext cx="3522226" cy="37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9750" y="953700"/>
            <a:ext cx="3636000" cy="3668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67200" cy="48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444817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236875" cy="39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438750" cy="38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16" name="Google Shape;2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125" y="553050"/>
            <a:ext cx="4575719" cy="40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080774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105592" cy="40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34" name="Google Shape;2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34000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46" name="Google Shape;2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625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52" name="Google Shape;2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58" name="Google Shape;2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700"/>
            <a:ext cx="534352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64" name="Google Shape;2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4350"/>
            <a:ext cx="5714224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70" name="Google Shape;2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75" y="801300"/>
            <a:ext cx="5216019" cy="40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76" name="Google Shape;2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92513"/>
            <a:ext cx="4267200" cy="435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82" name="Google Shape;28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50" y="553050"/>
            <a:ext cx="4819109" cy="40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88" name="Google Shape;2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00" y="479988"/>
            <a:ext cx="4267200" cy="418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4572000" y="228600"/>
            <a:ext cx="434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Especificacions</a:t>
            </a:r>
            <a:endParaRPr/>
          </a:p>
        </p:txBody>
      </p:sp>
      <p:pic>
        <p:nvPicPr>
          <p:cNvPr id="294" name="Google Shape;29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50" y="400050"/>
            <a:ext cx="42672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